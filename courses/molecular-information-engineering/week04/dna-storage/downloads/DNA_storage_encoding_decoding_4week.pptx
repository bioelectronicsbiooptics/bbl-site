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9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749808"/>
            <a:ext cx="694944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1CAEA2"/>
                </a:solidFill>
                <a:latin typeface="Noto Sans CJK KR"/>
              </a:rPr>
              <a:t>MOLECULAR INFORMATION ENGINEERING  ·  WEEK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508760"/>
            <a:ext cx="7040880" cy="11430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데이터에서
148 nt DNA strand까지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794760"/>
            <a:ext cx="6172200" cy="78638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700" b="0">
                <a:solidFill>
                  <a:srgbClr val="D1DEF0"/>
                </a:solidFill>
                <a:latin typeface="Noto Sans CJK KR"/>
              </a:rPr>
              <a:t>입력 byte → 17 byte 행 → outer XOR → fixed index + RS(27,19) → primer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8" y="4892040"/>
            <a:ext cx="960120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INPUT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73936" y="5047488"/>
            <a:ext cx="210312" cy="0"/>
          </a:xfrm>
          <a:prstGeom prst="line">
            <a:avLst/>
          </a:prstGeom>
          <a:ln w="16510">
            <a:solidFill>
              <a:srgbClr val="809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020824" y="4892040"/>
            <a:ext cx="960120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ROWS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99232" y="5047488"/>
            <a:ext cx="210312" cy="0"/>
          </a:xfrm>
          <a:prstGeom prst="line">
            <a:avLst/>
          </a:prstGeom>
          <a:ln w="16510">
            <a:solidFill>
              <a:srgbClr val="809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46120" y="4892040"/>
            <a:ext cx="960120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82696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XOR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24528" y="5047488"/>
            <a:ext cx="210312" cy="0"/>
          </a:xfrm>
          <a:prstGeom prst="line">
            <a:avLst/>
          </a:prstGeom>
          <a:ln w="16510">
            <a:solidFill>
              <a:srgbClr val="809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71416" y="4892040"/>
            <a:ext cx="960120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49824" y="5047488"/>
            <a:ext cx="210312" cy="0"/>
          </a:xfrm>
          <a:prstGeom prst="line">
            <a:avLst/>
          </a:prstGeom>
          <a:ln w="16510">
            <a:solidFill>
              <a:srgbClr val="809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96712" y="4892040"/>
            <a:ext cx="960120" cy="310896"/>
          </a:xfrm>
          <a:prstGeom prst="roundRect">
            <a:avLst/>
          </a:prstGeom>
          <a:solidFill>
            <a:srgbClr val="3A9770"/>
          </a:solidFill>
          <a:ln>
            <a:solidFill>
              <a:srgbClr val="3A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33288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DNA</a:t>
            </a:r>
          </a:p>
        </p:txBody>
      </p:sp>
      <p:pic>
        <p:nvPicPr>
          <p:cNvPr id="19" name="Picture 18" descr="dna_helix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408176"/>
            <a:ext cx="3337560" cy="2670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65592" y="4224528"/>
            <a:ext cx="320040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D1DEF0"/>
                </a:solidFill>
                <a:latin typeface="Noto Sans CJK KR"/>
              </a:rPr>
              <a:t>예제 DNA 이중나선 JPG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6108192"/>
            <a:ext cx="100584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A4BAD6"/>
                </a:solidFill>
                <a:latin typeface="Noto Sans CJK KR"/>
              </a:rPr>
              <a:t>추가 실습: 공식 DNAS-1 헤더 포함 흐름은 설명서 앞 절에 그대로 유지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01 ·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한 가닥의 길이는 148 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앞·뒤 primer는 각 20 nt이고, 가운데 payload 108 nt는 RS codeword 27 byte입니다.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2057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938528"/>
            <a:ext cx="1353312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197053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FORWARD PRIMER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304288"/>
            <a:ext cx="1764792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100" b="1">
                <a:solidFill>
                  <a:srgbClr val="1C2C43"/>
                </a:solidFill>
                <a:latin typeface="Noto Sans CJK KR"/>
              </a:rPr>
              <a:t>20 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828800"/>
            <a:ext cx="54406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91840" y="1938528"/>
            <a:ext cx="1353312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28416" y="197053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RS CODEWORD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0984" y="2304288"/>
            <a:ext cx="5148072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100" b="1">
                <a:solidFill>
                  <a:srgbClr val="1C2C43"/>
                </a:solidFill>
                <a:latin typeface="Noto Sans CJK KR"/>
              </a:rPr>
              <a:t>108 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1828800"/>
            <a:ext cx="214884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26880" y="1938528"/>
            <a:ext cx="1353312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3456" y="197053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REVERSE PRIMER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304288"/>
            <a:ext cx="1856232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100" b="1">
                <a:solidFill>
                  <a:srgbClr val="1C2C43"/>
                </a:solidFill>
                <a:latin typeface="Noto Sans CJK KR"/>
              </a:rPr>
              <a:t>20 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16352" y="2240280"/>
            <a:ext cx="274320" cy="0"/>
          </a:xfrm>
          <a:prstGeom prst="line">
            <a:avLst/>
          </a:prstGeom>
          <a:ln w="279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631936" y="2240280"/>
            <a:ext cx="475488" cy="0"/>
          </a:xfrm>
          <a:prstGeom prst="line">
            <a:avLst/>
          </a:prstGeom>
          <a:ln w="279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86384" y="2999232"/>
            <a:ext cx="105156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200" b="1">
                <a:solidFill>
                  <a:srgbClr val="1C2C43"/>
                </a:solidFill>
                <a:latin typeface="Noto Sans CJK KR"/>
              </a:rPr>
              <a:t>20 + 108 + 20 = 148 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3767328"/>
            <a:ext cx="5166360" cy="1417320"/>
          </a:xfrm>
          <a:prstGeom prst="roundRect">
            <a:avLst/>
          </a:prstGeom>
          <a:solidFill>
            <a:srgbClr val="E3F2EF"/>
          </a:solidFill>
          <a:ln>
            <a:solidFill>
              <a:srgbClr val="C4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" y="3931920"/>
            <a:ext cx="1097280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963924"/>
            <a:ext cx="1024127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MESSAGE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361688"/>
            <a:ext cx="470916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700" b="1">
                <a:solidFill>
                  <a:srgbClr val="1C2C43"/>
                </a:solidFill>
                <a:latin typeface="Noto Sans CJK KR"/>
              </a:rPr>
              <a:t>17 byte data row  +  2 byte big-endian index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6208" y="3767328"/>
            <a:ext cx="5166360" cy="1417320"/>
          </a:xfrm>
          <a:prstGeom prst="roundRect">
            <a:avLst/>
          </a:prstGeom>
          <a:solidFill>
            <a:srgbClr val="EFEAF9"/>
          </a:solidFill>
          <a:ln>
            <a:solidFill>
              <a:srgbClr val="DCD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0" y="3931920"/>
            <a:ext cx="1188720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396392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PARITY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4361688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700" b="1">
                <a:solidFill>
                  <a:srgbClr val="1C2C43"/>
                </a:solidFill>
                <a:latin typeface="Noto Sans CJK KR"/>
              </a:rPr>
              <a:t>8 byte Reed–Solomon parity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5522976"/>
            <a:ext cx="10424160" cy="47548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0">
                <a:solidFill>
                  <a:srgbClr val="5B6B80"/>
                </a:solidFill>
                <a:latin typeface="Noto Sans CJK KR"/>
              </a:rPr>
              <a:t>17 + 2 = 19 message byte  →  RS(27,19)  →  27 byte  →  108 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02 · ENCODING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인코더: 위에서 아래로 누적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한 스크립트의 섹션이 입력, 행 분할, XOR, index/RS, DNA/FASTA 순서로 이어집니다.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578608"/>
            <a:ext cx="420624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입력 byte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이름 UTF‑8
사진·파일 raw bytes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76272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468880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578608"/>
            <a:ext cx="420624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42616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17 byte 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PAD=0x1B
D는 짝수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114800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07408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44568" y="2578608"/>
            <a:ext cx="420624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1144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outer XOR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H=D/2
행 j ⊕ j+H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53328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45936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83096" y="2578608"/>
            <a:ext cx="420624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9672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3096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fixed index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3096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2 byte
big-endian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91856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84464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1624" y="2578608"/>
            <a:ext cx="420624" cy="310896"/>
          </a:xfrm>
          <a:prstGeom prst="roundRect">
            <a:avLst/>
          </a:prstGeom>
          <a:solidFill>
            <a:srgbClr val="3A9770"/>
          </a:solidFill>
          <a:ln>
            <a:solidFill>
              <a:srgbClr val="3A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1624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inner 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1624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RS(27,19)
8 byte parity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930384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222992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360152" y="2578608"/>
            <a:ext cx="420624" cy="310896"/>
          </a:xfrm>
          <a:prstGeom prst="round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96728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60152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DNA + FASTA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0152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ATGC mapping
F + 108 nt + 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3232" y="4864608"/>
            <a:ext cx="10744200" cy="713232"/>
          </a:xfrm>
          <a:prstGeom prst="round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5038344"/>
            <a:ext cx="1042416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출력 로그에서 원본 길이 L, 짝수 행 수 D, ext를 기록해 디코더에 입력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03 · OUTER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XOR은 가닥 소실을 한 번 보완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데이터 행은 앞·뒤 절반을 짝짓고, 보호 행은 뒤에 고정 위치로 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3749039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800" b="1">
                <a:solidFill>
                  <a:srgbClr val="1C2C43"/>
                </a:solidFill>
                <a:latin typeface="Noto Sans CJK KR"/>
              </a:rPr>
              <a:t>D = 4 data rows, H = D/2 = 2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2587752"/>
            <a:ext cx="1325880" cy="438912"/>
          </a:xfrm>
          <a:prstGeom prst="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670048"/>
            <a:ext cx="1197864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67128" y="2587752"/>
            <a:ext cx="2743200" cy="438912"/>
          </a:xfrm>
          <a:prstGeom prst="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31136" y="2670048"/>
            <a:ext cx="2615184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role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10328" y="2587752"/>
            <a:ext cx="4114800" cy="438912"/>
          </a:xfrm>
          <a:prstGeom prst="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74336" y="2670048"/>
            <a:ext cx="3986784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XOR 묶음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3044952"/>
            <a:ext cx="13258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118104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67128" y="3044952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80" y="3118104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row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10328" y="3044952"/>
            <a:ext cx="41148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3118104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(1, 3, 5)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3474720"/>
            <a:ext cx="132588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547872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67128" y="3474720"/>
            <a:ext cx="27432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40280" y="3547872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row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0328" y="3474720"/>
            <a:ext cx="41148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83480" y="3547872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(2, 4, 6)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3904487"/>
            <a:ext cx="13258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977639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67128" y="3904487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40280" y="3977639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row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10328" y="3904487"/>
            <a:ext cx="41148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83480" y="3977639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pair for 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" y="4334256"/>
            <a:ext cx="132588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407408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67128" y="4334256"/>
            <a:ext cx="27432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40280" y="4407408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row 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10328" y="4334256"/>
            <a:ext cx="41148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83480" y="4407408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pair for 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" y="4764024"/>
            <a:ext cx="13258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837176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67128" y="4764024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80" y="4837176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XOR parity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0328" y="4764024"/>
            <a:ext cx="41148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83480" y="4837176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row 1 ⊕ row 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" y="5193792"/>
            <a:ext cx="132588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5266944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67128" y="5193792"/>
            <a:ext cx="27432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40280" y="5266944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XOR parity 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10328" y="5193792"/>
            <a:ext cx="41148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83480" y="5266944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row 2 ⊕ row 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64040" y="2651760"/>
            <a:ext cx="1920240" cy="2331720"/>
          </a:xfrm>
          <a:prstGeom prst="roundRect">
            <a:avLst/>
          </a:prstGeom>
          <a:solidFill>
            <a:srgbClr val="E3F2EF"/>
          </a:solidFill>
          <a:ln>
            <a:solidFill>
              <a:srgbClr val="C4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19488" y="2852928"/>
            <a:ext cx="1609344" cy="43891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1CAEA2"/>
                </a:solidFill>
                <a:latin typeface="Noto Sans CJK KR"/>
              </a:rPr>
              <a:t>한 묶음에서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28632" y="3410712"/>
            <a:ext cx="1591056" cy="10972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1C2C43"/>
                </a:solidFill>
                <a:latin typeface="Noto Sans CJK KR"/>
              </a:rPr>
              <a:t>가닥 1개
소실 → XOR로 복원
2개 소실 → 복원 불가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" y="5605272"/>
            <a:ext cx="1024128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700" b="1">
                <a:solidFill>
                  <a:srgbClr val="1C2C43"/>
                </a:solidFill>
                <a:latin typeface="Noto Sans CJK KR"/>
              </a:rPr>
              <a:t>N = D + H = 3D/2 strands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04 · INNER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index도 RS 보호 범위 안에 둡니다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108 nt 본문을 유지하려면 index 2 byte는 17 byte data 행과 함께 RS 메시지에 들어갑니다.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331720"/>
            <a:ext cx="30175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69848" y="2450592"/>
            <a:ext cx="658368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2482596"/>
            <a:ext cx="585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17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852928"/>
            <a:ext cx="278892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1C2C43"/>
                </a:solidFill>
                <a:latin typeface="Noto Sans CJK KR"/>
              </a:rPr>
              <a:t>data row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2331720"/>
            <a:ext cx="1417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61688" y="2450592"/>
            <a:ext cx="658368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8264" y="2482596"/>
            <a:ext cx="585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2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852928"/>
            <a:ext cx="118872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1C2C43"/>
                </a:solidFill>
                <a:latin typeface="Noto Sans CJK KR"/>
              </a:rPr>
              <a:t>index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2331720"/>
            <a:ext cx="15087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90488" y="2450592"/>
            <a:ext cx="658368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7064" y="2482596"/>
            <a:ext cx="585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8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2852928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1C2C43"/>
                </a:solidFill>
                <a:latin typeface="Noto Sans CJK KR"/>
              </a:rPr>
              <a:t>RS parity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23360" y="2816352"/>
            <a:ext cx="182880" cy="0"/>
          </a:xfrm>
          <a:prstGeom prst="line">
            <a:avLst/>
          </a:prstGeom>
          <a:ln w="279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715000" y="2816352"/>
            <a:ext cx="320040" cy="0"/>
          </a:xfrm>
          <a:prstGeom prst="line">
            <a:avLst/>
          </a:prstGeom>
          <a:ln w="279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73568" y="2395728"/>
            <a:ext cx="3154680" cy="32918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19 B message → 27 B codeword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3296" y="2852928"/>
            <a:ext cx="288036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0">
                <a:solidFill>
                  <a:srgbClr val="5B6B80"/>
                </a:solidFill>
                <a:latin typeface="Noto Sans CJK KR"/>
              </a:rPr>
              <a:t>RS(27,19) · GF(256)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16052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34256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1CAEA2"/>
                </a:solidFill>
                <a:latin typeface="Noto Sans CJK KR"/>
              </a:rPr>
              <a:t>심볼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681728"/>
            <a:ext cx="2852928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1C2C43"/>
                </a:solidFill>
                <a:latin typeface="Noto Sans CJK KR"/>
              </a:rPr>
              <a:t>1 byte = 1 GF(256) symbol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07992" y="416052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2" y="4334256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417CD5"/>
                </a:solidFill>
                <a:latin typeface="Noto Sans CJK KR"/>
              </a:rPr>
              <a:t>생성 다항식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681728"/>
            <a:ext cx="2852928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1C2C43"/>
                </a:solidFill>
                <a:latin typeface="Noto Sans CJK KR"/>
              </a:rPr>
              <a:t>primitive polynomial 0x11D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93024" y="416052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0184" y="4334256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7D5EC6"/>
                </a:solidFill>
                <a:latin typeface="Noto Sans CJK KR"/>
              </a:rPr>
              <a:t>정정 능력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48472" y="4681728"/>
            <a:ext cx="2852928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1C2C43"/>
                </a:solidFill>
                <a:latin typeface="Noto Sans CJK KR"/>
              </a:rPr>
              <a:t>최대 4 byte symbol errors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6601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C2C43"/>
                </a:solidFill>
                <a:latin typeface="Noto Sans CJK KR"/>
              </a:rPr>
              <a:t>RS 출력 27 byte × 4 nt/byte = 108 nt payload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05 · DECODING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디코더: sequence에서 파일로 역순 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FASTA에는 파일 metadata 헤더가 없으므로, 인코더가 출력한 L·D·확장자를 설정에 옮깁니다.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" y="2770632"/>
            <a:ext cx="1170432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FASTA / FASTQ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11095" y="3255264"/>
            <a:ext cx="210313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157984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76856" y="2770632"/>
            <a:ext cx="1170432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13432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ORIENTATION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6856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방향 + primer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75304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822191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941063" y="2770632"/>
            <a:ext cx="1170432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77639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ISCAN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41063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index별 그룹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39512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486400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05272" y="2770632"/>
            <a:ext cx="1170432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41848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CONSENSUS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05272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Global RS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03720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150608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69480" y="2770632"/>
            <a:ext cx="1170432" cy="310896"/>
          </a:xfrm>
          <a:prstGeom prst="roundRect">
            <a:avLst/>
          </a:prstGeom>
          <a:solidFill>
            <a:srgbClr val="3A9770"/>
          </a:solidFill>
          <a:ln>
            <a:solidFill>
              <a:srgbClr val="3A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06056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LOCAL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read별 Local RS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567928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814816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933688" y="2770632"/>
            <a:ext cx="1170432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0264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XOR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33688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strand 복원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232136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479024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597896" y="2770632"/>
            <a:ext cx="1170432" cy="310896"/>
          </a:xfrm>
          <a:prstGeom prst="round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34472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FILE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97896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행 연결 → L bytes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407408"/>
            <a:ext cx="10744200" cy="850392"/>
          </a:xfrm>
          <a:prstGeom prst="round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1832" y="4636008"/>
            <a:ext cx="1028700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1C2C43"/>
                </a:solidFill>
                <a:latin typeface="Noto Sans CJK KR"/>
              </a:rPr>
              <a:t>각 XOR triple (j, j+H, D+j)에서 하나만 누락되면 남은 두 행의 XOR로 채움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" y="5577840"/>
            <a:ext cx="1024128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확인 로그: reversed · no_primer · bad_length · bad_index · Global RS · Local RS · XOR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06 · MATLAB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이름과 DNA JPG로 왕복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실행 로그의 byte 수·가닥 길이와 복원 결과를 대조합니다.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148840"/>
            <a:ext cx="50749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0120" y="2340864"/>
            <a:ext cx="1536192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372868"/>
            <a:ext cx="146303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NAME · UTF‑8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2816352"/>
            <a:ext cx="4572000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000" b="1">
                <a:solidFill>
                  <a:srgbClr val="1C2C43"/>
                </a:solidFill>
                <a:latin typeface="Noto Sans CJK KR"/>
              </a:rPr>
              <a:t>13 byte · 3 strands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3364992"/>
            <a:ext cx="4526280" cy="58521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0">
                <a:solidFill>
                  <a:srgbClr val="5B6B80"/>
                </a:solidFill>
                <a:latin typeface="Noto Sans CJK KR"/>
              </a:rPr>
              <a:t>각 strand 148 nt
복원: 송영준 DNA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2148840"/>
            <a:ext cx="50749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0" y="2340864"/>
            <a:ext cx="1536192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2372868"/>
            <a:ext cx="146303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DNA JPG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5" y="2816352"/>
            <a:ext cx="4572000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000" b="1">
                <a:solidFill>
                  <a:srgbClr val="1C2C43"/>
                </a:solidFill>
                <a:latin typeface="Noto Sans CJK KR"/>
              </a:rPr>
              <a:t>35,298 byte · 3,117 strands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3364992"/>
            <a:ext cx="4526280" cy="58521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0">
                <a:solidFill>
                  <a:srgbClr val="5B6B80"/>
                </a:solidFill>
                <a:latin typeface="Noto Sans CJK KR"/>
              </a:rPr>
              <a:t>각 strand 148 nt
원본·복원 JPG byte 일치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590288"/>
            <a:ext cx="10515600" cy="768096"/>
          </a:xfrm>
          <a:prstGeom prst="roundRect">
            <a:avLst/>
          </a:prstGeom>
          <a:solidFill>
            <a:srgbClr val="E3F2EF"/>
          </a:solidFill>
          <a:ln>
            <a:solidFill>
              <a:srgbClr val="C4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800600"/>
            <a:ext cx="10104120" cy="33832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3A9770"/>
                </a:solidFill>
                <a:latin typeface="Noto Sans CJK KR"/>
              </a:rPr>
              <a:t>채널 확인: 데이터 strand 1개 누락 + RS 입력의 4개 byte 치환 → XOR + RS 후 원본 일치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69280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0">
                <a:solidFill>
                  <a:srgbClr val="5B6B80"/>
                </a:solidFill>
                <a:latin typeface="Noto Sans CJK KR"/>
              </a:rPr>
              <a:t>MATLAB R2026a Online 실검증 로그는 업로드 후 마지막에 추가합니다.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07 ·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실행 설정과 포맷의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헤더 없는 변형은 데이터 경로를 직접 보이기 위한 수업용 포맷입니다.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39696"/>
            <a:ext cx="5084064" cy="3072384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2331720"/>
            <a:ext cx="1234440" cy="310896"/>
          </a:xfrm>
          <a:prstGeom prst="round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63724"/>
            <a:ext cx="116128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MATLAB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283464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1.  inputMode = 'text' | 'image' | 'file'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324612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2.  인코더를 위에서 아래로 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" y="365760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3.  출력의 L / D / ext를 기록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406908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4.  FASTA를 디코더 inputFile에 설정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448056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5.  같은 L / D / ext를 복사해 Run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139696"/>
            <a:ext cx="5084064" cy="3072384"/>
          </a:xfrm>
          <a:prstGeom prst="roundRect">
            <a:avLst/>
          </a:prstGeom>
          <a:solidFill>
            <a:srgbClr val="FFF7EC"/>
          </a:solidFill>
          <a:ln>
            <a:solidFill>
              <a:srgbClr val="F2E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2331720"/>
            <a:ext cx="1508760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8816" y="2363724"/>
            <a:ext cx="1435607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LIMITATIONS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83464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L, D, ext, CRC는 DNA 안에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24612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이 설정값은 실험 기록에 별도로 보관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65760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index 오류는 그룹 분류를 방해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06908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삽입·결실에는 primer alignment가 없음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48056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같은 XOR pair에서 2개 소실은 복원 불가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5632704"/>
            <a:ext cx="10241280" cy="32918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표준 DNAS-1(헤더·CRC 포함) 설명과 실습은 홈페이지 앞 절에서 계속 제공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