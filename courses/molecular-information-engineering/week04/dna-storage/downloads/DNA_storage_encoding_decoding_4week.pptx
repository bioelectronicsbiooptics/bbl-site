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49808"/>
            <a:ext cx="6949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CAEA2"/>
                </a:solidFill>
                <a:latin typeface="Noto Sans CJK KR"/>
              </a:rPr>
              <a:t>MOLECULAR INFORMATION ENGINEERING  ·  WEEK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7040880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데이터에서
148 nt DNA strand까지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794760"/>
            <a:ext cx="6172200" cy="7863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D1DEF0"/>
                </a:solidFill>
                <a:latin typeface="Noto Sans CJK KR"/>
              </a:rPr>
              <a:t>입력 byte → 17 byte 행 → outer XOR → fixed index + RS(27,19) → primer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" y="4892040"/>
            <a:ext cx="960120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4924044"/>
            <a:ext cx="8869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73936" y="5047488"/>
            <a:ext cx="210312" cy="0"/>
          </a:xfrm>
          <a:prstGeom prst="line">
            <a:avLst/>
          </a:prstGeom>
          <a:ln w="16510">
            <a:solidFill>
              <a:srgbClr val="80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20824" y="4892040"/>
            <a:ext cx="960120" cy="310896"/>
          </a:xfrm>
          <a:prstGeom prst="roundRect">
            <a:avLst/>
          </a:prstGeom>
          <a:solidFill>
            <a:srgbClr val="417CD5"/>
          </a:solidFill>
          <a:ln>
            <a:solidFill>
              <a:srgbClr val="41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924044"/>
            <a:ext cx="8869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ROWS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5047488"/>
            <a:ext cx="210312" cy="0"/>
          </a:xfrm>
          <a:prstGeom prst="line">
            <a:avLst/>
          </a:prstGeom>
          <a:ln w="16510">
            <a:solidFill>
              <a:srgbClr val="80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4892040"/>
            <a:ext cx="960120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4924044"/>
            <a:ext cx="8869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XOR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4528" y="5047488"/>
            <a:ext cx="210312" cy="0"/>
          </a:xfrm>
          <a:prstGeom prst="line">
            <a:avLst/>
          </a:prstGeom>
          <a:ln w="16510">
            <a:solidFill>
              <a:srgbClr val="80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71416" y="4892040"/>
            <a:ext cx="960120" cy="310896"/>
          </a:xfrm>
          <a:prstGeom prst="roundRect">
            <a:avLst/>
          </a:prstGeom>
          <a:solidFill>
            <a:srgbClr val="E0685E"/>
          </a:solidFill>
          <a:ln>
            <a:solidFill>
              <a:srgbClr val="E06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924044"/>
            <a:ext cx="8869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9824" y="5047488"/>
            <a:ext cx="210312" cy="0"/>
          </a:xfrm>
          <a:prstGeom prst="line">
            <a:avLst/>
          </a:prstGeom>
          <a:ln w="16510">
            <a:solidFill>
              <a:srgbClr val="80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96712" y="4892040"/>
            <a:ext cx="960120" cy="310896"/>
          </a:xfrm>
          <a:prstGeom prst="roundRect">
            <a:avLst/>
          </a:prstGeom>
          <a:solidFill>
            <a:srgbClr val="3A9770"/>
          </a:solidFill>
          <a:ln>
            <a:solidFill>
              <a:srgbClr val="3A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4924044"/>
            <a:ext cx="8869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DNA</a:t>
            </a:r>
          </a:p>
        </p:txBody>
      </p:sp>
      <p:pic>
        <p:nvPicPr>
          <p:cNvPr id="19" name="Picture 18" descr="dna_helix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408176"/>
            <a:ext cx="3337560" cy="2670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65592" y="4224528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D1DEF0"/>
                </a:solidFill>
                <a:latin typeface="Noto Sans CJK KR"/>
              </a:rPr>
              <a:t>예제 DNA 이중나선 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6108192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A4BAD6"/>
                </a:solidFill>
                <a:latin typeface="Noto Sans CJK KR"/>
              </a:rPr>
              <a:t>추가 실습: 공식 DNAS-1 헤더 포함 흐름은 설명서 앞 절에 그대로 유지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01 ·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한 가닥의 길이는 148 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앞·뒤 primer는 각 20 nt이고, 가운데 payload 108 nt는 RS codeword 27 byte입니다.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38528"/>
            <a:ext cx="1353312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97053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FORWARD PRIMER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04288"/>
            <a:ext cx="176479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1C2C43"/>
                </a:solidFill>
                <a:latin typeface="Noto Sans CJK KR"/>
              </a:rPr>
              <a:t>20 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828800"/>
            <a:ext cx="5440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938528"/>
            <a:ext cx="1353312" cy="310896"/>
          </a:xfrm>
          <a:prstGeom prst="roundRect">
            <a:avLst/>
          </a:prstGeom>
          <a:solidFill>
            <a:srgbClr val="417CD5"/>
          </a:solidFill>
          <a:ln>
            <a:solidFill>
              <a:srgbClr val="41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197053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RS CODEWORD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2304288"/>
            <a:ext cx="514807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1C2C43"/>
                </a:solidFill>
                <a:latin typeface="Noto Sans CJK KR"/>
              </a:rPr>
              <a:t>108 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148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38528"/>
            <a:ext cx="1353312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197053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REVERSE PRIMER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304288"/>
            <a:ext cx="185623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1C2C43"/>
                </a:solidFill>
                <a:latin typeface="Noto Sans CJK KR"/>
              </a:rPr>
              <a:t>20 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2240280"/>
            <a:ext cx="274320" cy="0"/>
          </a:xfrm>
          <a:prstGeom prst="line">
            <a:avLst/>
          </a:prstGeom>
          <a:ln w="279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31936" y="2240280"/>
            <a:ext cx="475488" cy="0"/>
          </a:xfrm>
          <a:prstGeom prst="line">
            <a:avLst/>
          </a:prstGeom>
          <a:ln w="279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" y="2999232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1C2C43"/>
                </a:solidFill>
                <a:latin typeface="Noto Sans CJK KR"/>
              </a:rPr>
              <a:t>20 + 108 + 20 = 148 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3767328"/>
            <a:ext cx="5166360" cy="1417320"/>
          </a:xfrm>
          <a:prstGeom prst="roundRect">
            <a:avLst/>
          </a:prstGeom>
          <a:solidFill>
            <a:srgbClr val="E3F2EF"/>
          </a:solidFill>
          <a:ln>
            <a:solidFill>
              <a:srgbClr val="C4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" y="3931920"/>
            <a:ext cx="1097280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963924"/>
            <a:ext cx="102412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61688"/>
            <a:ext cx="47091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C2C43"/>
                </a:solidFill>
                <a:latin typeface="Noto Sans CJK KR"/>
              </a:rPr>
              <a:t>17 byte data row  +  2 byte big-endian index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67328"/>
            <a:ext cx="5166360" cy="1417320"/>
          </a:xfrm>
          <a:prstGeom prst="roundRect">
            <a:avLst/>
          </a:prstGeom>
          <a:solidFill>
            <a:srgbClr val="EFEAF9"/>
          </a:solidFill>
          <a:ln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931920"/>
            <a:ext cx="1188720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96392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PARITY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361688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C2C43"/>
                </a:solidFill>
                <a:latin typeface="Noto Sans CJK KR"/>
              </a:rPr>
              <a:t>8 byte Reed–Solomon parity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522976"/>
            <a:ext cx="10424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5B6B80"/>
                </a:solidFill>
                <a:latin typeface="Noto Sans CJK KR"/>
              </a:rPr>
              <a:t>17 + 2 = 19 message byte  →  RS(27,19)  →  27 byte  →  108 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02 ·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인코더: 위에서 아래로 누적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각 번호 파일은 앞 코드 블록을 누적한 독립 실행본이며, 실행 로그 PASS를 확인하고 다음 단계로 이동합니다.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578608"/>
            <a:ext cx="420624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입력 byte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이름 UTF‑8
사진·파일 raw bytes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6272" y="3355848"/>
            <a:ext cx="246888" cy="0"/>
          </a:xfrm>
          <a:prstGeom prst="line">
            <a:avLst/>
          </a:prstGeom>
          <a:ln w="1905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40" y="2578608"/>
            <a:ext cx="420624" cy="310896"/>
          </a:xfrm>
          <a:prstGeom prst="roundRect">
            <a:avLst/>
          </a:prstGeom>
          <a:solidFill>
            <a:srgbClr val="417CD5"/>
          </a:solidFill>
          <a:ln>
            <a:solidFill>
              <a:srgbClr val="41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17 byte 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PAD=0x1B
D는 짝수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3355848"/>
            <a:ext cx="246888" cy="0"/>
          </a:xfrm>
          <a:prstGeom prst="line">
            <a:avLst/>
          </a:prstGeom>
          <a:ln w="1905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7408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44568" y="2578608"/>
            <a:ext cx="420624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outer XOR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H=D/2
행 j ⊕ j+H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53328" y="3355848"/>
            <a:ext cx="246888" cy="0"/>
          </a:xfrm>
          <a:prstGeom prst="line">
            <a:avLst/>
          </a:prstGeom>
          <a:ln w="1905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45936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3096" y="2578608"/>
            <a:ext cx="420624" cy="310896"/>
          </a:xfrm>
          <a:prstGeom prst="roundRect">
            <a:avLst/>
          </a:prstGeom>
          <a:solidFill>
            <a:srgbClr val="E0685E"/>
          </a:solidFill>
          <a:ln>
            <a:solidFill>
              <a:srgbClr val="E06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fixed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2 byte
big-endian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91856" y="3355848"/>
            <a:ext cx="246888" cy="0"/>
          </a:xfrm>
          <a:prstGeom prst="line">
            <a:avLst/>
          </a:prstGeom>
          <a:ln w="1905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84464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21624" y="2578608"/>
            <a:ext cx="420624" cy="310896"/>
          </a:xfrm>
          <a:prstGeom prst="roundRect">
            <a:avLst/>
          </a:prstGeom>
          <a:solidFill>
            <a:srgbClr val="3A9770"/>
          </a:solidFill>
          <a:ln>
            <a:solidFill>
              <a:srgbClr val="3A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inner 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RS(27,19)
8 byte parity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30384" y="3355848"/>
            <a:ext cx="246888" cy="0"/>
          </a:xfrm>
          <a:prstGeom prst="line">
            <a:avLst/>
          </a:prstGeom>
          <a:ln w="1905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222992" y="2423160"/>
            <a:ext cx="162763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60152" y="2578608"/>
            <a:ext cx="420624" cy="310896"/>
          </a:xfrm>
          <a:prstGeom prst="round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6728" y="26106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3063240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DNA + FASTA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3483864"/>
            <a:ext cx="1353312" cy="6583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ATGC mapping
F + 108 nt + 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4864608"/>
            <a:ext cx="10744200" cy="713232"/>
          </a:xfrm>
          <a:prstGeom prst="round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038344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Encoding_1.m → 1_2.m → 1_3.m → 1_4.m → 1_5.m → 1_6.m 순서로 실행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03 · OUTER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XOR은 가닥 소실을 한 번 보완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데이터 행은 앞·뒤 절반을 짝짓고, 보호 행은 뒤에 고정 위치로 붙입니다.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C2C43"/>
                </a:solidFill>
                <a:latin typeface="Noto Sans CJK KR"/>
              </a:rPr>
              <a:t>D = 4 data rows, H = D/2 =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587752"/>
            <a:ext cx="1325880" cy="438912"/>
          </a:xfrm>
          <a:prstGeom prst="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670048"/>
            <a:ext cx="119786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2587752"/>
            <a:ext cx="2743200" cy="438912"/>
          </a:xfrm>
          <a:prstGeom prst="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136" y="2670048"/>
            <a:ext cx="261518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0328" y="2587752"/>
            <a:ext cx="4114800" cy="438912"/>
          </a:xfrm>
          <a:prstGeom prst="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2670048"/>
            <a:ext cx="3986784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XOR 묶음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044952"/>
            <a:ext cx="13258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18104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3044952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3118104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row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3044952"/>
            <a:ext cx="4114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118104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(1, 3, 5)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474720"/>
            <a:ext cx="132588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47872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7128" y="3474720"/>
            <a:ext cx="27432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3547872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row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0328" y="3474720"/>
            <a:ext cx="41148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547872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(2, 4, 6)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904487"/>
            <a:ext cx="13258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77639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7128" y="3904487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977639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row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10328" y="3904487"/>
            <a:ext cx="4114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3977639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pair for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334256"/>
            <a:ext cx="132588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407408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7128" y="4334256"/>
            <a:ext cx="27432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4407408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row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0328" y="4334256"/>
            <a:ext cx="41148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4407408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data pair for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764024"/>
            <a:ext cx="13258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837176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764024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80" y="4837176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XOR parity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0328" y="4764024"/>
            <a:ext cx="4114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837176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row 1 ⊕ row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5193792"/>
            <a:ext cx="132588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266944"/>
            <a:ext cx="117957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C2C43"/>
                </a:solidFill>
                <a:latin typeface="Noto Sans CJK KR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7128" y="5193792"/>
            <a:ext cx="27432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80" y="5266944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XOR parity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10328" y="5193792"/>
            <a:ext cx="4114800" cy="411480"/>
          </a:xfrm>
          <a:prstGeom prst="rect">
            <a:avLst/>
          </a:prstGeom>
          <a:solidFill>
            <a:srgbClr val="EFF3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5266944"/>
            <a:ext cx="3968496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row 2 ⊕ row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2651760"/>
            <a:ext cx="1920240" cy="2331720"/>
          </a:xfrm>
          <a:prstGeom prst="roundRect">
            <a:avLst/>
          </a:prstGeom>
          <a:solidFill>
            <a:srgbClr val="E3F2EF"/>
          </a:solidFill>
          <a:ln>
            <a:solidFill>
              <a:srgbClr val="C4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19488" y="2852928"/>
            <a:ext cx="1609344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CAEA2"/>
                </a:solidFill>
                <a:latin typeface="Noto Sans CJK KR"/>
              </a:rPr>
              <a:t>한 묶음에서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8632" y="3410712"/>
            <a:ext cx="1591056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1C2C43"/>
                </a:solidFill>
                <a:latin typeface="Noto Sans CJK KR"/>
              </a:rPr>
              <a:t>가닥 1개
소실 → XOR로 복원
2개 소실 → 복원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605272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C2C43"/>
                </a:solidFill>
                <a:latin typeface="Noto Sans CJK KR"/>
              </a:rPr>
              <a:t>N = D + H = 3D/2 strands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04 · INNER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index도 RS 보호 범위 안에 둡니다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108 nt 본문을 유지하려면 index 2 byte는 17 byte data 행과 함께 RS 메시지에 들어갑니다.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" y="2450592"/>
            <a:ext cx="658368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482596"/>
            <a:ext cx="585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17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8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C2C43"/>
                </a:solidFill>
                <a:latin typeface="Noto Sans CJK KR"/>
              </a:rPr>
              <a:t>data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331720"/>
            <a:ext cx="1417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2450592"/>
            <a:ext cx="658368" cy="310896"/>
          </a:xfrm>
          <a:prstGeom prst="roundRect">
            <a:avLst/>
          </a:prstGeom>
          <a:solidFill>
            <a:srgbClr val="E0685E"/>
          </a:solidFill>
          <a:ln>
            <a:solidFill>
              <a:srgbClr val="E06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2482596"/>
            <a:ext cx="585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2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8529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C2C43"/>
                </a:solidFill>
                <a:latin typeface="Noto Sans CJK KR"/>
              </a:rPr>
              <a:t>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331720"/>
            <a:ext cx="1508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2450592"/>
            <a:ext cx="658368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482596"/>
            <a:ext cx="585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8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8529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C2C43"/>
                </a:solidFill>
                <a:latin typeface="Noto Sans CJK KR"/>
              </a:rPr>
              <a:t>RS parity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2816352"/>
            <a:ext cx="182880" cy="0"/>
          </a:xfrm>
          <a:prstGeom prst="line">
            <a:avLst/>
          </a:prstGeom>
          <a:ln w="279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2816352"/>
            <a:ext cx="320040" cy="0"/>
          </a:xfrm>
          <a:prstGeom prst="line">
            <a:avLst/>
          </a:prstGeom>
          <a:ln w="279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73568" y="2395728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C2C43"/>
                </a:solidFill>
                <a:latin typeface="Noto Sans CJK KR"/>
              </a:rPr>
              <a:t>19 B message → 27 B codeword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5292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5B6B80"/>
                </a:solidFill>
                <a:latin typeface="Noto Sans CJK KR"/>
              </a:rPr>
              <a:t>RS(27,19) · GF(256)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605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34256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1CAEA2"/>
                </a:solidFill>
                <a:latin typeface="Noto Sans CJK KR"/>
              </a:rPr>
              <a:t>심볼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681728"/>
            <a:ext cx="2852928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1C2C43"/>
                </a:solidFill>
                <a:latin typeface="Noto Sans CJK KR"/>
              </a:rPr>
              <a:t>1 byte = 1 GF(256) symbol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41605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334256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417CD5"/>
                </a:solidFill>
                <a:latin typeface="Noto Sans CJK KR"/>
              </a:rPr>
              <a:t>생성 다항식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81728"/>
            <a:ext cx="2852928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1C2C43"/>
                </a:solidFill>
                <a:latin typeface="Noto Sans CJK KR"/>
              </a:rPr>
              <a:t>primitive polynomial 0x11D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41605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4334256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7D5EC6"/>
                </a:solidFill>
                <a:latin typeface="Noto Sans CJK KR"/>
              </a:rPr>
              <a:t>정정 능력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4681728"/>
            <a:ext cx="2852928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1C2C43"/>
                </a:solidFill>
                <a:latin typeface="Noto Sans CJK KR"/>
              </a:rPr>
              <a:t>최대 4 byte symbol 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6601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C2C43"/>
                </a:solidFill>
                <a:latin typeface="Noto Sans CJK KR"/>
              </a:rPr>
              <a:t>RS 출력 27 byte × 4 nt/byte = 108 nt payload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05 ·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디코더: sequence에서 파일로 역순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FASTA에는 파일 metadata 헤더가 없으므로, 인코더가 출력한 L·D·확장자를 설정에 옮깁니다.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2770632"/>
            <a:ext cx="1170432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FASTA / FASTQ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11095" y="3255264"/>
            <a:ext cx="210313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57984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76856" y="2770632"/>
            <a:ext cx="1170432" cy="310896"/>
          </a:xfrm>
          <a:prstGeom prst="roundRect">
            <a:avLst/>
          </a:prstGeom>
          <a:solidFill>
            <a:srgbClr val="417CD5"/>
          </a:solidFill>
          <a:ln>
            <a:solidFill>
              <a:srgbClr val="41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ORIENTATION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방향 + primer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75304" y="3255264"/>
            <a:ext cx="210312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22191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41063" y="2770632"/>
            <a:ext cx="1170432" cy="310896"/>
          </a:xfrm>
          <a:prstGeom prst="roundRect">
            <a:avLst/>
          </a:prstGeom>
          <a:solidFill>
            <a:srgbClr val="E0685E"/>
          </a:solidFill>
          <a:ln>
            <a:solidFill>
              <a:srgbClr val="E06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ISCAN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3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index별 그룹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9512" y="3255264"/>
            <a:ext cx="210312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0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05272" y="2770632"/>
            <a:ext cx="1170432" cy="310896"/>
          </a:xfrm>
          <a:prstGeom prst="roundRect">
            <a:avLst/>
          </a:prstGeom>
          <a:solidFill>
            <a:srgbClr val="7D5EC6"/>
          </a:solidFill>
          <a:ln>
            <a:solidFill>
              <a:srgbClr val="7D5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1848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CONSENSUS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Global 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3255264"/>
            <a:ext cx="210312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50608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480" y="2770632"/>
            <a:ext cx="1170432" cy="310896"/>
          </a:xfrm>
          <a:prstGeom prst="roundRect">
            <a:avLst/>
          </a:prstGeom>
          <a:solidFill>
            <a:srgbClr val="3A9770"/>
          </a:solidFill>
          <a:ln>
            <a:solidFill>
              <a:srgbClr val="3A9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056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read별 Local 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67928" y="3255264"/>
            <a:ext cx="210312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14816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33688" y="2770632"/>
            <a:ext cx="1170432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0264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XOR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strand 복원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32136" y="3255264"/>
            <a:ext cx="210312" cy="0"/>
          </a:xfrm>
          <a:prstGeom prst="line">
            <a:avLst/>
          </a:prstGeom>
          <a:ln w="15240">
            <a:solidFill>
              <a:srgbClr val="1CAE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479024" y="2633472"/>
            <a:ext cx="140817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97896" y="2770632"/>
            <a:ext cx="1170432" cy="310896"/>
          </a:xfrm>
          <a:prstGeom prst="round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2" y="28026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7896" y="3264408"/>
            <a:ext cx="117043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C2C43"/>
                </a:solidFill>
                <a:latin typeface="Noto Sans CJK KR"/>
              </a:rPr>
              <a:t>행 연결 → L bytes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407408"/>
            <a:ext cx="10744200" cy="850392"/>
          </a:xfrm>
          <a:prstGeom prst="round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" y="4636008"/>
            <a:ext cx="102870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C2C43"/>
                </a:solidFill>
                <a:latin typeface="Noto Sans CJK KR"/>
              </a:rPr>
              <a:t>각 XOR triple (j, j+H, D+j)에서 하나만 누락되면 남은 두 행의 XOR로 채움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5577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확인 로그: reversed · no_primer · bad_length · bad_index · Global RS · Local RS · XOR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06 · MATLAB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이름과 DNA JPG로 왕복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실행 로그의 byte 수·가닥 길이와 복원 결과를 대조합니다.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340864"/>
            <a:ext cx="1536192" cy="310896"/>
          </a:xfrm>
          <a:prstGeom prst="roundRect">
            <a:avLst/>
          </a:prstGeom>
          <a:solidFill>
            <a:srgbClr val="1CAEA2"/>
          </a:solidFill>
          <a:ln>
            <a:solidFill>
              <a:srgbClr val="1CA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372868"/>
            <a:ext cx="1463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NAME · UTF‑8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816352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1C2C43"/>
                </a:solidFill>
                <a:latin typeface="Noto Sans CJK KR"/>
              </a:rPr>
              <a:t>13 byte · 3 strands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364992"/>
            <a:ext cx="4526280" cy="5852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5B6B80"/>
                </a:solidFill>
                <a:latin typeface="Noto Sans CJK KR"/>
              </a:rPr>
              <a:t>각 strand 148 nt
복원: 송영준 DNA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14884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340864"/>
            <a:ext cx="1536192" cy="310896"/>
          </a:xfrm>
          <a:prstGeom prst="roundRect">
            <a:avLst/>
          </a:prstGeom>
          <a:solidFill>
            <a:srgbClr val="417CD5"/>
          </a:solidFill>
          <a:ln>
            <a:solidFill>
              <a:srgbClr val="417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372868"/>
            <a:ext cx="1463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DNA 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5" y="2816352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1C2C43"/>
                </a:solidFill>
                <a:latin typeface="Noto Sans CJK KR"/>
              </a:rPr>
              <a:t>35,298 byte · 3,117 strands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364992"/>
            <a:ext cx="4526280" cy="5852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5B6B80"/>
                </a:solidFill>
                <a:latin typeface="Noto Sans CJK KR"/>
              </a:rPr>
              <a:t>각 strand 148 nt
원본·복원 JPG byte 일치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590288"/>
            <a:ext cx="10515600" cy="768096"/>
          </a:xfrm>
          <a:prstGeom prst="roundRect">
            <a:avLst/>
          </a:prstGeom>
          <a:solidFill>
            <a:srgbClr val="E3F2EF"/>
          </a:solidFill>
          <a:ln>
            <a:solidFill>
              <a:srgbClr val="C4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800600"/>
            <a:ext cx="10104120" cy="3383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3A9770"/>
                </a:solidFill>
                <a:latin typeface="Noto Sans CJK KR"/>
              </a:rPr>
              <a:t>채널 확인: 데이터 strand 1개 누락 + RS 입력의 4개 byte 치환 → XOR + RS 후 원본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66928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5B6B80"/>
                </a:solidFill>
                <a:latin typeface="Noto Sans CJK KR"/>
              </a:rPr>
              <a:t>MATLAB Online R2026a: text 왕복 PASS · JPG 35,298 byte · 3,117 × 148 nt · 복원 JPG byte 일치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CAEA2"/>
                </a:solidFill>
                <a:latin typeface="Noto Sans CJK KR"/>
              </a:rPr>
              <a:t>07 ·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C2C43"/>
                </a:solidFill>
                <a:latin typeface="Noto Sans CJK KR"/>
              </a:rPr>
              <a:t>실행 설정과 포맷의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B6B80"/>
                </a:solidFill>
                <a:latin typeface="Noto Sans CJK KR"/>
              </a:rPr>
              <a:t>헤더 없는 변형은 데이터 경로를 직접 보이기 위한 수업용 포맷입니다.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09960" cy="16459"/>
          </a:xfrm>
          <a:prstGeom prst="rect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Noto Sans CJK KR"/>
              </a:rPr>
              <a:t>분자정보공학 · Week 04 · Headerless 148 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Noto Sans CJK KR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39696"/>
            <a:ext cx="5084064" cy="3072384"/>
          </a:xfrm>
          <a:prstGeom prst="roundRect">
            <a:avLst/>
          </a:prstGeom>
          <a:solidFill>
            <a:srgbClr val="FFFFFF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331720"/>
            <a:ext cx="1234440" cy="310896"/>
          </a:xfrm>
          <a:prstGeom prst="roundRect">
            <a:avLst/>
          </a:prstGeom>
          <a:solidFill>
            <a:srgbClr val="172B49"/>
          </a:solidFill>
          <a:ln>
            <a:solidFill>
              <a:srgbClr val="17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3724"/>
            <a:ext cx="11612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MATLAB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83464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C2C43"/>
                </a:solidFill>
                <a:latin typeface="Noto Sans CJK KR"/>
              </a:rPr>
              <a:t>1.  inputMode = 'text' | 'image' | 'file'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24612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C2C43"/>
                </a:solidFill>
                <a:latin typeface="Noto Sans CJK KR"/>
              </a:rPr>
              <a:t>2.  인코더를 위에서 아래로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C2C43"/>
                </a:solidFill>
                <a:latin typeface="Noto Sans CJK KR"/>
              </a:rPr>
              <a:t>3.  출력의 L / D / ext를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06908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C2C43"/>
                </a:solidFill>
                <a:latin typeface="Noto Sans CJK KR"/>
              </a:rPr>
              <a:t>4.  dnas_sequences.txt 또는 FASTA를 디코더에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48056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C2C43"/>
                </a:solidFill>
                <a:latin typeface="Noto Sans CJK KR"/>
              </a:rPr>
              <a:t>5.  L / D / ext를 복사 → decoded 파일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139696"/>
            <a:ext cx="5084064" cy="3072384"/>
          </a:xfrm>
          <a:prstGeom prst="roundRect">
            <a:avLst/>
          </a:prstGeom>
          <a:solidFill>
            <a:srgbClr val="FFF7EC"/>
          </a:solidFill>
          <a:ln>
            <a:solidFill>
              <a:srgbClr val="F2E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331720"/>
            <a:ext cx="1508760" cy="310896"/>
          </a:xfrm>
          <a:prstGeom prst="roundRect">
            <a:avLst/>
          </a:prstGeom>
          <a:solidFill>
            <a:srgbClr val="E0685E"/>
          </a:solidFill>
          <a:ln>
            <a:solidFill>
              <a:srgbClr val="E06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363724"/>
            <a:ext cx="143560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3464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•  L, D, ext, CRC는 DNA 안에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•  이 설정값은 실험 기록에 별도로 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5760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•  index 오류는 그룹 분류를 방해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•  삽입·결실에는 primer alignment가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45537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C2C43"/>
                </a:solidFill>
                <a:latin typeface="Noto Sans CJK KR"/>
              </a:rPr>
              <a:t>•  같은 XOR pair에서 2개 소실은 복원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632704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B6B80"/>
                </a:solidFill>
                <a:latin typeface="Noto Sans CJK KR"/>
              </a:rPr>
              <a:t>표준 DNAS-1(헤더·CRC 포함) 설명과 실습은 홈페이지 앞 절에서 계속 제공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