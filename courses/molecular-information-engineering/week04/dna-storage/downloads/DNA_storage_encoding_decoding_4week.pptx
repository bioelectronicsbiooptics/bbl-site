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9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749808"/>
            <a:ext cx="6949440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1CAEA2"/>
                </a:solidFill>
                <a:latin typeface="Noto Sans CJK KR"/>
              </a:rPr>
              <a:t>MOLECULAR INFORMATION ENGINEERING  ·  WEEK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1508760"/>
            <a:ext cx="7040880" cy="11430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Noto Sans CJK KR"/>
              </a:rPr>
              <a:t>데이터에서
148 nt DNA strand까지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3794760"/>
            <a:ext cx="6172200" cy="786384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700" b="0">
                <a:solidFill>
                  <a:srgbClr val="D1DEF0"/>
                </a:solidFill>
                <a:latin typeface="Noto Sans CJK KR"/>
              </a:rPr>
              <a:t>입력 byte → 17 byte 행 → outer XOR → fixed index + RS(27,19) → primer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5528" y="4892040"/>
            <a:ext cx="960120" cy="310896"/>
          </a:xfrm>
          <a:prstGeom prst="roundRect">
            <a:avLst/>
          </a:prstGeom>
          <a:solidFill>
            <a:srgbClr val="1CAEA2"/>
          </a:solidFill>
          <a:ln>
            <a:solidFill>
              <a:srgbClr val="1CAE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4924044"/>
            <a:ext cx="8869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INPUT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773936" y="5047488"/>
            <a:ext cx="210312" cy="0"/>
          </a:xfrm>
          <a:prstGeom prst="line">
            <a:avLst/>
          </a:prstGeom>
          <a:ln w="16510">
            <a:solidFill>
              <a:srgbClr val="8099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020824" y="4892040"/>
            <a:ext cx="960120" cy="310896"/>
          </a:xfrm>
          <a:prstGeom prst="roundRect">
            <a:avLst/>
          </a:prstGeom>
          <a:solidFill>
            <a:srgbClr val="417CD5"/>
          </a:solidFill>
          <a:ln>
            <a:solidFill>
              <a:srgbClr val="417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4924044"/>
            <a:ext cx="8869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ROWS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999232" y="5047488"/>
            <a:ext cx="210312" cy="0"/>
          </a:xfrm>
          <a:prstGeom prst="line">
            <a:avLst/>
          </a:prstGeom>
          <a:ln w="16510">
            <a:solidFill>
              <a:srgbClr val="8099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246120" y="4892040"/>
            <a:ext cx="960120" cy="310896"/>
          </a:xfrm>
          <a:prstGeom prst="roundRect">
            <a:avLst/>
          </a:prstGeom>
          <a:solidFill>
            <a:srgbClr val="7D5EC6"/>
          </a:solidFill>
          <a:ln>
            <a:solidFill>
              <a:srgbClr val="7D5E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82696" y="4924044"/>
            <a:ext cx="8869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XOR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224528" y="5047488"/>
            <a:ext cx="210312" cy="0"/>
          </a:xfrm>
          <a:prstGeom prst="line">
            <a:avLst/>
          </a:prstGeom>
          <a:ln w="16510">
            <a:solidFill>
              <a:srgbClr val="8099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471416" y="4892040"/>
            <a:ext cx="960120" cy="310896"/>
          </a:xfrm>
          <a:prstGeom prst="roundRect">
            <a:avLst/>
          </a:prstGeom>
          <a:solidFill>
            <a:srgbClr val="E0685E"/>
          </a:solidFill>
          <a:ln>
            <a:solidFill>
              <a:srgbClr val="E06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4924044"/>
            <a:ext cx="8869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RS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49824" y="5047488"/>
            <a:ext cx="210312" cy="0"/>
          </a:xfrm>
          <a:prstGeom prst="line">
            <a:avLst/>
          </a:prstGeom>
          <a:ln w="16510">
            <a:solidFill>
              <a:srgbClr val="8099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696712" y="4892040"/>
            <a:ext cx="960120" cy="310896"/>
          </a:xfrm>
          <a:prstGeom prst="roundRect">
            <a:avLst/>
          </a:prstGeom>
          <a:solidFill>
            <a:srgbClr val="3A9770"/>
          </a:solidFill>
          <a:ln>
            <a:solidFill>
              <a:srgbClr val="3A97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33288" y="4924044"/>
            <a:ext cx="8869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DNA</a:t>
            </a:r>
          </a:p>
        </p:txBody>
      </p:sp>
      <p:pic>
        <p:nvPicPr>
          <p:cNvPr id="19" name="Picture 18" descr="dna_helix_dem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1408176"/>
            <a:ext cx="3337560" cy="26700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65592" y="4224528"/>
            <a:ext cx="3200400" cy="4114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0">
                <a:solidFill>
                  <a:srgbClr val="D1DEF0"/>
                </a:solidFill>
                <a:latin typeface="Noto Sans CJK KR"/>
              </a:rPr>
              <a:t>예제 DNA 이중나선 JPG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" y="6108192"/>
            <a:ext cx="10058400" cy="2286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100" b="0">
                <a:solidFill>
                  <a:srgbClr val="A4BAD6"/>
                </a:solidFill>
                <a:latin typeface="Noto Sans CJK KR"/>
              </a:rPr>
              <a:t>추가 실습: 공식 DNAS-1 헤더 포함 흐름은 설명서 앞 절에 그대로 유지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743200" cy="2286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1CAEA2"/>
                </a:solidFill>
                <a:latin typeface="Noto Sans CJK KR"/>
              </a:rPr>
              <a:t>01 · FORMAT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115568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2700" b="1">
                <a:solidFill>
                  <a:srgbClr val="1C2C43"/>
                </a:solidFill>
                <a:latin typeface="Noto Sans CJK KR"/>
              </a:rPr>
              <a:t>한 가닥의 길이는 148 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10972800" cy="40233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300" b="0">
                <a:solidFill>
                  <a:srgbClr val="5B6B80"/>
                </a:solidFill>
                <a:latin typeface="Noto Sans CJK KR"/>
              </a:rPr>
              <a:t>앞·뒤 primer는 각 20 nt이고, 가운데 payload 108 nt는 RS codeword 27 byte입니다.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510528"/>
            <a:ext cx="11109960" cy="16459"/>
          </a:xfrm>
          <a:prstGeom prst="rect">
            <a:avLst/>
          </a:prstGeom>
          <a:solidFill>
            <a:srgbClr val="E7EFF8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65392"/>
            <a:ext cx="9144000" cy="16459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Noto Sans CJK KR"/>
              </a:rPr>
              <a:t>분자정보공학 · Week 04 · Headerless 148 nt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37960"/>
            <a:ext cx="640080" cy="1828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Noto Sans CJK KR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2057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1938528"/>
            <a:ext cx="1353312" cy="310896"/>
          </a:xfrm>
          <a:prstGeom prst="roundRect">
            <a:avLst/>
          </a:prstGeom>
          <a:solidFill>
            <a:srgbClr val="1CAEA2"/>
          </a:solidFill>
          <a:ln>
            <a:solidFill>
              <a:srgbClr val="1CAE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1970532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FORWARD PRIMER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304288"/>
            <a:ext cx="1764792" cy="29260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2100" b="1">
                <a:solidFill>
                  <a:srgbClr val="1C2C43"/>
                </a:solidFill>
                <a:latin typeface="Noto Sans CJK KR"/>
              </a:rPr>
              <a:t>20 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54680" y="1828800"/>
            <a:ext cx="544068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291840" y="1938528"/>
            <a:ext cx="1353312" cy="310896"/>
          </a:xfrm>
          <a:prstGeom prst="roundRect">
            <a:avLst/>
          </a:prstGeom>
          <a:solidFill>
            <a:srgbClr val="417CD5"/>
          </a:solidFill>
          <a:ln>
            <a:solidFill>
              <a:srgbClr val="417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28416" y="1970532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RS CODEWORD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00984" y="2304288"/>
            <a:ext cx="5148072" cy="29260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2100" b="1">
                <a:solidFill>
                  <a:srgbClr val="1C2C43"/>
                </a:solidFill>
                <a:latin typeface="Noto Sans CJK KR"/>
              </a:rPr>
              <a:t>108 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89720" y="1828800"/>
            <a:ext cx="214884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326880" y="1938528"/>
            <a:ext cx="1353312" cy="310896"/>
          </a:xfrm>
          <a:prstGeom prst="roundRect">
            <a:avLst/>
          </a:prstGeom>
          <a:solidFill>
            <a:srgbClr val="7D5EC6"/>
          </a:solidFill>
          <a:ln>
            <a:solidFill>
              <a:srgbClr val="7D5E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63456" y="1970532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REVERSE PRIMER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36024" y="2304288"/>
            <a:ext cx="1856232" cy="29260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2100" b="1">
                <a:solidFill>
                  <a:srgbClr val="1C2C43"/>
                </a:solidFill>
                <a:latin typeface="Noto Sans CJK KR"/>
              </a:rPr>
              <a:t>20 nt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816352" y="2240280"/>
            <a:ext cx="274320" cy="0"/>
          </a:xfrm>
          <a:prstGeom prst="line">
            <a:avLst/>
          </a:prstGeom>
          <a:ln w="27940">
            <a:solidFill>
              <a:srgbClr val="1CAE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631936" y="2240280"/>
            <a:ext cx="475488" cy="0"/>
          </a:xfrm>
          <a:prstGeom prst="line">
            <a:avLst/>
          </a:prstGeom>
          <a:ln w="27940">
            <a:solidFill>
              <a:srgbClr val="1CAE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86384" y="2999232"/>
            <a:ext cx="1051560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2200" b="1">
                <a:solidFill>
                  <a:srgbClr val="1C2C43"/>
                </a:solidFill>
                <a:latin typeface="Noto Sans CJK KR"/>
              </a:rPr>
              <a:t>20 + 108 + 20 = 148 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2" y="3767328"/>
            <a:ext cx="5166360" cy="1417320"/>
          </a:xfrm>
          <a:prstGeom prst="roundRect">
            <a:avLst/>
          </a:prstGeom>
          <a:solidFill>
            <a:srgbClr val="E3F2EF"/>
          </a:solidFill>
          <a:ln>
            <a:solidFill>
              <a:srgbClr val="C4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69264" y="3931920"/>
            <a:ext cx="1097280" cy="310896"/>
          </a:xfrm>
          <a:prstGeom prst="roundRect">
            <a:avLst/>
          </a:prstGeom>
          <a:solidFill>
            <a:srgbClr val="1CAEA2"/>
          </a:solidFill>
          <a:ln>
            <a:solidFill>
              <a:srgbClr val="1CAE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3963924"/>
            <a:ext cx="1024127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MESSAGE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4361688"/>
            <a:ext cx="470916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700" b="1">
                <a:solidFill>
                  <a:srgbClr val="1C2C43"/>
                </a:solidFill>
                <a:latin typeface="Noto Sans CJK KR"/>
              </a:rPr>
              <a:t>17 byte data row  +  2 byte big-endian index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36208" y="3767328"/>
            <a:ext cx="5166360" cy="1417320"/>
          </a:xfrm>
          <a:prstGeom prst="roundRect">
            <a:avLst/>
          </a:prstGeom>
          <a:solidFill>
            <a:srgbClr val="EFEAF9"/>
          </a:solidFill>
          <a:ln>
            <a:solidFill>
              <a:srgbClr val="DCD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0" y="3931920"/>
            <a:ext cx="1188720" cy="310896"/>
          </a:xfrm>
          <a:prstGeom prst="roundRect">
            <a:avLst/>
          </a:prstGeom>
          <a:solidFill>
            <a:srgbClr val="7D5EC6"/>
          </a:solidFill>
          <a:ln>
            <a:solidFill>
              <a:srgbClr val="7D5E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37376" y="3963924"/>
            <a:ext cx="11155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PARITY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3952" y="4361688"/>
            <a:ext cx="461772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700" b="1">
                <a:solidFill>
                  <a:srgbClr val="1C2C43"/>
                </a:solidFill>
                <a:latin typeface="Noto Sans CJK KR"/>
              </a:rPr>
              <a:t>8 byte Reed–Solomon parity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824" y="5522976"/>
            <a:ext cx="10424160" cy="47548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400" b="0">
                <a:solidFill>
                  <a:srgbClr val="5B6B80"/>
                </a:solidFill>
                <a:latin typeface="Noto Sans CJK KR"/>
              </a:rPr>
              <a:t>17 + 2 = 19 message byte  →  RS(27,19)  →  27 byte  →  108 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743200" cy="2286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1CAEA2"/>
                </a:solidFill>
                <a:latin typeface="Noto Sans CJK KR"/>
              </a:rPr>
              <a:t>02 · ENCODING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115568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2700" b="1">
                <a:solidFill>
                  <a:srgbClr val="1C2C43"/>
                </a:solidFill>
                <a:latin typeface="Noto Sans CJK KR"/>
              </a:rPr>
              <a:t>인코더: 위에서 아래로 누적 실행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10972800" cy="40233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300" b="0">
                <a:solidFill>
                  <a:srgbClr val="5B6B80"/>
                </a:solidFill>
                <a:latin typeface="Noto Sans CJK KR"/>
              </a:rPr>
              <a:t>각 번호 파일은 앞 코드 블록을 누적한 독립 실행본이며, 실행 로그 PASS를 확인하고 다음 단계로 이동합니다.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510528"/>
            <a:ext cx="11109960" cy="16459"/>
          </a:xfrm>
          <a:prstGeom prst="rect">
            <a:avLst/>
          </a:prstGeom>
          <a:solidFill>
            <a:srgbClr val="E7EFF8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65392"/>
            <a:ext cx="9144000" cy="16459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Noto Sans CJK KR"/>
              </a:rPr>
              <a:t>분자정보공학 · Week 04 · Headerless 148 nt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37960"/>
            <a:ext cx="640080" cy="1828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Noto Sans CJK KR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2423160"/>
            <a:ext cx="1627632" cy="1938528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7512" y="2578608"/>
            <a:ext cx="420624" cy="310896"/>
          </a:xfrm>
          <a:prstGeom prst="roundRect">
            <a:avLst/>
          </a:prstGeom>
          <a:solidFill>
            <a:srgbClr val="1CAEA2"/>
          </a:solidFill>
          <a:ln>
            <a:solidFill>
              <a:srgbClr val="1CAE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2610612"/>
            <a:ext cx="3474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3063240"/>
            <a:ext cx="1353312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500" b="1">
                <a:solidFill>
                  <a:srgbClr val="1C2C43"/>
                </a:solidFill>
                <a:latin typeface="Noto Sans CJK KR"/>
              </a:rPr>
              <a:t>입력 byte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3483864"/>
            <a:ext cx="1353312" cy="6583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0">
                <a:solidFill>
                  <a:srgbClr val="5B6B80"/>
                </a:solidFill>
                <a:latin typeface="Noto Sans CJK KR"/>
              </a:rPr>
              <a:t>이름 UTF‑8
사진·파일 raw bytes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176272" y="3355848"/>
            <a:ext cx="246888" cy="0"/>
          </a:xfrm>
          <a:prstGeom prst="line">
            <a:avLst/>
          </a:prstGeom>
          <a:ln w="19050">
            <a:solidFill>
              <a:srgbClr val="1CAE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468880" y="2423160"/>
            <a:ext cx="1627632" cy="1938528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606040" y="2578608"/>
            <a:ext cx="420624" cy="310896"/>
          </a:xfrm>
          <a:prstGeom prst="roundRect">
            <a:avLst/>
          </a:prstGeom>
          <a:solidFill>
            <a:srgbClr val="417CD5"/>
          </a:solidFill>
          <a:ln>
            <a:solidFill>
              <a:srgbClr val="417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42616" y="2610612"/>
            <a:ext cx="3474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063240"/>
            <a:ext cx="1353312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500" b="1">
                <a:solidFill>
                  <a:srgbClr val="1C2C43"/>
                </a:solidFill>
                <a:latin typeface="Noto Sans CJK KR"/>
              </a:rPr>
              <a:t>17 byte 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3483864"/>
            <a:ext cx="1353312" cy="6583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0">
                <a:solidFill>
                  <a:srgbClr val="5B6B80"/>
                </a:solidFill>
                <a:latin typeface="Noto Sans CJK KR"/>
              </a:rPr>
              <a:t>PAD=0x1B
D는 짝수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114800" y="3355848"/>
            <a:ext cx="246888" cy="0"/>
          </a:xfrm>
          <a:prstGeom prst="line">
            <a:avLst/>
          </a:prstGeom>
          <a:ln w="19050">
            <a:solidFill>
              <a:srgbClr val="1CAE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407408" y="2423160"/>
            <a:ext cx="1627632" cy="1938528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544568" y="2578608"/>
            <a:ext cx="420624" cy="310896"/>
          </a:xfrm>
          <a:prstGeom prst="roundRect">
            <a:avLst/>
          </a:prstGeom>
          <a:solidFill>
            <a:srgbClr val="7D5EC6"/>
          </a:solidFill>
          <a:ln>
            <a:solidFill>
              <a:srgbClr val="7D5E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81144" y="2610612"/>
            <a:ext cx="3474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44568" y="3063240"/>
            <a:ext cx="1353312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500" b="1">
                <a:solidFill>
                  <a:srgbClr val="1C2C43"/>
                </a:solidFill>
                <a:latin typeface="Noto Sans CJK KR"/>
              </a:rPr>
              <a:t>outer XOR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44568" y="3483864"/>
            <a:ext cx="1353312" cy="6583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0">
                <a:solidFill>
                  <a:srgbClr val="5B6B80"/>
                </a:solidFill>
                <a:latin typeface="Noto Sans CJK KR"/>
              </a:rPr>
              <a:t>H=D/2
행 j ⊕ j+H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53328" y="3355848"/>
            <a:ext cx="246888" cy="0"/>
          </a:xfrm>
          <a:prstGeom prst="line">
            <a:avLst/>
          </a:prstGeom>
          <a:ln w="19050">
            <a:solidFill>
              <a:srgbClr val="1CAE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345936" y="2423160"/>
            <a:ext cx="1627632" cy="1938528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83096" y="2578608"/>
            <a:ext cx="420624" cy="310896"/>
          </a:xfrm>
          <a:prstGeom prst="roundRect">
            <a:avLst/>
          </a:prstGeom>
          <a:solidFill>
            <a:srgbClr val="E0685E"/>
          </a:solidFill>
          <a:ln>
            <a:solidFill>
              <a:srgbClr val="E06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9672" y="2610612"/>
            <a:ext cx="3474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83096" y="3063240"/>
            <a:ext cx="1353312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500" b="1">
                <a:solidFill>
                  <a:srgbClr val="1C2C43"/>
                </a:solidFill>
                <a:latin typeface="Noto Sans CJK KR"/>
              </a:rPr>
              <a:t>fixed index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83096" y="3483864"/>
            <a:ext cx="1353312" cy="6583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0">
                <a:solidFill>
                  <a:srgbClr val="5B6B80"/>
                </a:solidFill>
                <a:latin typeface="Noto Sans CJK KR"/>
              </a:rPr>
              <a:t>2 byte
big-endian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991856" y="3355848"/>
            <a:ext cx="246888" cy="0"/>
          </a:xfrm>
          <a:prstGeom prst="line">
            <a:avLst/>
          </a:prstGeom>
          <a:ln w="19050">
            <a:solidFill>
              <a:srgbClr val="1CAE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284464" y="2423160"/>
            <a:ext cx="1627632" cy="1938528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421624" y="2578608"/>
            <a:ext cx="420624" cy="310896"/>
          </a:xfrm>
          <a:prstGeom prst="roundRect">
            <a:avLst/>
          </a:prstGeom>
          <a:solidFill>
            <a:srgbClr val="3A9770"/>
          </a:solidFill>
          <a:ln>
            <a:solidFill>
              <a:srgbClr val="3A97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8200" y="2610612"/>
            <a:ext cx="3474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21624" y="3063240"/>
            <a:ext cx="1353312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500" b="1">
                <a:solidFill>
                  <a:srgbClr val="1C2C43"/>
                </a:solidFill>
                <a:latin typeface="Noto Sans CJK KR"/>
              </a:rPr>
              <a:t>inner 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21624" y="3483864"/>
            <a:ext cx="1353312" cy="6583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0">
                <a:solidFill>
                  <a:srgbClr val="5B6B80"/>
                </a:solidFill>
                <a:latin typeface="Noto Sans CJK KR"/>
              </a:rPr>
              <a:t>RS(27,19)
8 byte parity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930384" y="3355848"/>
            <a:ext cx="246888" cy="0"/>
          </a:xfrm>
          <a:prstGeom prst="line">
            <a:avLst/>
          </a:prstGeom>
          <a:ln w="19050">
            <a:solidFill>
              <a:srgbClr val="1CAE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10222992" y="2423160"/>
            <a:ext cx="1627632" cy="1938528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0360152" y="2578608"/>
            <a:ext cx="420624" cy="310896"/>
          </a:xfrm>
          <a:prstGeom prst="roundRect">
            <a:avLst/>
          </a:prstGeom>
          <a:solidFill>
            <a:srgbClr val="172B49"/>
          </a:solidFill>
          <a:ln>
            <a:solidFill>
              <a:srgbClr val="17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396728" y="2610612"/>
            <a:ext cx="3474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60152" y="3063240"/>
            <a:ext cx="1353312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500" b="1">
                <a:solidFill>
                  <a:srgbClr val="1C2C43"/>
                </a:solidFill>
                <a:latin typeface="Noto Sans CJK KR"/>
              </a:rPr>
              <a:t>DNA + FASTA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60152" y="3483864"/>
            <a:ext cx="1353312" cy="6583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0">
                <a:solidFill>
                  <a:srgbClr val="5B6B80"/>
                </a:solidFill>
                <a:latin typeface="Noto Sans CJK KR"/>
              </a:rPr>
              <a:t>ATGC mapping
F + 108 nt + 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13232" y="4864608"/>
            <a:ext cx="10744200" cy="713232"/>
          </a:xfrm>
          <a:prstGeom prst="roundRect">
            <a:avLst/>
          </a:prstGeom>
          <a:solidFill>
            <a:srgbClr val="E7EFF8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8680" y="5038344"/>
            <a:ext cx="1042416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500" b="1">
                <a:solidFill>
                  <a:srgbClr val="1C2C43"/>
                </a:solidFill>
                <a:latin typeface="Noto Sans CJK KR"/>
              </a:rPr>
              <a:t>Encoding_1.m → 1_2.m → 1_3.m → 1_4.m → 1_5.m → 1_6.m 순서로 실행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743200" cy="2286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1CAEA2"/>
                </a:solidFill>
                <a:latin typeface="Noto Sans CJK KR"/>
              </a:rPr>
              <a:t>03 · OUTER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115568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2700" b="1">
                <a:solidFill>
                  <a:srgbClr val="1C2C43"/>
                </a:solidFill>
                <a:latin typeface="Noto Sans CJK KR"/>
              </a:rPr>
              <a:t>XOR은 가닥 소실을 한 번 보완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10972800" cy="40233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300" b="0">
                <a:solidFill>
                  <a:srgbClr val="5B6B80"/>
                </a:solidFill>
                <a:latin typeface="Noto Sans CJK KR"/>
              </a:rPr>
              <a:t>데이터 행은 앞·뒤 절반을 짝짓고, 보호 행은 뒤에 고정 위치로 붙입니다.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510528"/>
            <a:ext cx="11109960" cy="16459"/>
          </a:xfrm>
          <a:prstGeom prst="rect">
            <a:avLst/>
          </a:prstGeom>
          <a:solidFill>
            <a:srgbClr val="E7EFF8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65392"/>
            <a:ext cx="9144000" cy="16459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Noto Sans CJK KR"/>
              </a:rPr>
              <a:t>분자정보공학 · Week 04 · Headerless 148 nt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37960"/>
            <a:ext cx="640080" cy="1828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Noto Sans CJK K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3749039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800" b="1">
                <a:solidFill>
                  <a:srgbClr val="1C2C43"/>
                </a:solidFill>
                <a:latin typeface="Noto Sans CJK KR"/>
              </a:rPr>
              <a:t>D = 4 data rows, H = D/2 = 2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2587752"/>
            <a:ext cx="1325880" cy="438912"/>
          </a:xfrm>
          <a:prstGeom prst="rect">
            <a:avLst/>
          </a:prstGeom>
          <a:solidFill>
            <a:srgbClr val="172B49"/>
          </a:solidFill>
          <a:ln>
            <a:solidFill>
              <a:srgbClr val="17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2670048"/>
            <a:ext cx="1197864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KR"/>
              </a:rPr>
              <a:t>index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67128" y="2587752"/>
            <a:ext cx="2743200" cy="438912"/>
          </a:xfrm>
          <a:prstGeom prst="rect">
            <a:avLst/>
          </a:prstGeom>
          <a:solidFill>
            <a:srgbClr val="172B49"/>
          </a:solidFill>
          <a:ln>
            <a:solidFill>
              <a:srgbClr val="17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31136" y="2670048"/>
            <a:ext cx="2615184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KR"/>
              </a:rPr>
              <a:t>role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10328" y="2587752"/>
            <a:ext cx="4114800" cy="438912"/>
          </a:xfrm>
          <a:prstGeom prst="rect">
            <a:avLst/>
          </a:prstGeom>
          <a:solidFill>
            <a:srgbClr val="172B49"/>
          </a:solidFill>
          <a:ln>
            <a:solidFill>
              <a:srgbClr val="17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74336" y="2670048"/>
            <a:ext cx="3986784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KR"/>
              </a:rPr>
              <a:t>XOR 묶음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" y="3044952"/>
            <a:ext cx="1325880" cy="411480"/>
          </a:xfrm>
          <a:prstGeom prst="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118104"/>
            <a:ext cx="1179576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1">
                <a:solidFill>
                  <a:srgbClr val="1C2C43"/>
                </a:solidFill>
                <a:latin typeface="Noto Sans CJK KR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67128" y="3044952"/>
            <a:ext cx="2743200" cy="411480"/>
          </a:xfrm>
          <a:prstGeom prst="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40280" y="3118104"/>
            <a:ext cx="2596896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00" b="0">
                <a:solidFill>
                  <a:srgbClr val="1C2C43"/>
                </a:solidFill>
                <a:latin typeface="Noto Sans CJK KR"/>
              </a:rPr>
              <a:t>data row 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10328" y="3044952"/>
            <a:ext cx="4114800" cy="411480"/>
          </a:xfrm>
          <a:prstGeom prst="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83480" y="3118104"/>
            <a:ext cx="3968496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00" b="0">
                <a:solidFill>
                  <a:srgbClr val="1C2C43"/>
                </a:solidFill>
                <a:latin typeface="Noto Sans CJK KR"/>
              </a:rPr>
              <a:t>(1, 3, 5)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1248" y="3474720"/>
            <a:ext cx="1325880" cy="411480"/>
          </a:xfrm>
          <a:prstGeom prst="rect">
            <a:avLst/>
          </a:prstGeom>
          <a:solidFill>
            <a:srgbClr val="EFF3F8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547872"/>
            <a:ext cx="1179576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1">
                <a:solidFill>
                  <a:srgbClr val="1C2C43"/>
                </a:solidFill>
                <a:latin typeface="Noto Sans CJK KR"/>
              </a:rPr>
              <a:t>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67128" y="3474720"/>
            <a:ext cx="2743200" cy="411480"/>
          </a:xfrm>
          <a:prstGeom prst="rect">
            <a:avLst/>
          </a:prstGeom>
          <a:solidFill>
            <a:srgbClr val="EFF3F8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40280" y="3547872"/>
            <a:ext cx="2596896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00" b="0">
                <a:solidFill>
                  <a:srgbClr val="1C2C43"/>
                </a:solidFill>
                <a:latin typeface="Noto Sans CJK KR"/>
              </a:rPr>
              <a:t>data row 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10328" y="3474720"/>
            <a:ext cx="4114800" cy="411480"/>
          </a:xfrm>
          <a:prstGeom prst="rect">
            <a:avLst/>
          </a:prstGeom>
          <a:solidFill>
            <a:srgbClr val="EFF3F8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83480" y="3547872"/>
            <a:ext cx="3968496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00" b="0">
                <a:solidFill>
                  <a:srgbClr val="1C2C43"/>
                </a:solidFill>
                <a:latin typeface="Noto Sans CJK KR"/>
              </a:rPr>
              <a:t>(2, 4, 6)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1248" y="3904487"/>
            <a:ext cx="1325880" cy="411480"/>
          </a:xfrm>
          <a:prstGeom prst="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977639"/>
            <a:ext cx="1179576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1">
                <a:solidFill>
                  <a:srgbClr val="1C2C43"/>
                </a:solidFill>
                <a:latin typeface="Noto Sans CJK KR"/>
              </a:rP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67128" y="3904487"/>
            <a:ext cx="2743200" cy="411480"/>
          </a:xfrm>
          <a:prstGeom prst="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40280" y="3977639"/>
            <a:ext cx="2596896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00" b="0">
                <a:solidFill>
                  <a:srgbClr val="1C2C43"/>
                </a:solidFill>
                <a:latin typeface="Noto Sans CJK KR"/>
              </a:rPr>
              <a:t>data row 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10328" y="3904487"/>
            <a:ext cx="4114800" cy="411480"/>
          </a:xfrm>
          <a:prstGeom prst="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83480" y="3977639"/>
            <a:ext cx="3968496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00" b="0">
                <a:solidFill>
                  <a:srgbClr val="1C2C43"/>
                </a:solidFill>
                <a:latin typeface="Noto Sans CJK KR"/>
              </a:rPr>
              <a:t>data pair for 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41248" y="4334256"/>
            <a:ext cx="1325880" cy="411480"/>
          </a:xfrm>
          <a:prstGeom prst="rect">
            <a:avLst/>
          </a:prstGeom>
          <a:solidFill>
            <a:srgbClr val="EFF3F8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4407408"/>
            <a:ext cx="1179576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1">
                <a:solidFill>
                  <a:srgbClr val="1C2C43"/>
                </a:solidFill>
                <a:latin typeface="Noto Sans CJK KR"/>
              </a:rPr>
              <a:t>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67128" y="4334256"/>
            <a:ext cx="2743200" cy="411480"/>
          </a:xfrm>
          <a:prstGeom prst="rect">
            <a:avLst/>
          </a:prstGeom>
          <a:solidFill>
            <a:srgbClr val="EFF3F8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40280" y="4407408"/>
            <a:ext cx="2596896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00" b="0">
                <a:solidFill>
                  <a:srgbClr val="1C2C43"/>
                </a:solidFill>
                <a:latin typeface="Noto Sans CJK KR"/>
              </a:rPr>
              <a:t>data row 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910328" y="4334256"/>
            <a:ext cx="4114800" cy="411480"/>
          </a:xfrm>
          <a:prstGeom prst="rect">
            <a:avLst/>
          </a:prstGeom>
          <a:solidFill>
            <a:srgbClr val="EFF3F8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83480" y="4407408"/>
            <a:ext cx="3968496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00" b="0">
                <a:solidFill>
                  <a:srgbClr val="1C2C43"/>
                </a:solidFill>
                <a:latin typeface="Noto Sans CJK KR"/>
              </a:rPr>
              <a:t>data pair for 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1248" y="4764024"/>
            <a:ext cx="1325880" cy="411480"/>
          </a:xfrm>
          <a:prstGeom prst="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4837176"/>
            <a:ext cx="1179576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1">
                <a:solidFill>
                  <a:srgbClr val="1C2C43"/>
                </a:solidFill>
                <a:latin typeface="Noto Sans CJK KR"/>
              </a:rPr>
              <a:t>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67128" y="4764024"/>
            <a:ext cx="2743200" cy="411480"/>
          </a:xfrm>
          <a:prstGeom prst="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40280" y="4837176"/>
            <a:ext cx="2596896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00" b="0">
                <a:solidFill>
                  <a:srgbClr val="1C2C43"/>
                </a:solidFill>
                <a:latin typeface="Noto Sans CJK KR"/>
              </a:rPr>
              <a:t>XOR parity 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910328" y="4764024"/>
            <a:ext cx="4114800" cy="411480"/>
          </a:xfrm>
          <a:prstGeom prst="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983480" y="4837176"/>
            <a:ext cx="3968496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00" b="0">
                <a:solidFill>
                  <a:srgbClr val="1C2C43"/>
                </a:solidFill>
                <a:latin typeface="Noto Sans CJK KR"/>
              </a:rPr>
              <a:t>row 1 ⊕ row 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1248" y="5193792"/>
            <a:ext cx="1325880" cy="411480"/>
          </a:xfrm>
          <a:prstGeom prst="rect">
            <a:avLst/>
          </a:prstGeom>
          <a:solidFill>
            <a:srgbClr val="EFF3F8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4400" y="5266944"/>
            <a:ext cx="1179576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1">
                <a:solidFill>
                  <a:srgbClr val="1C2C43"/>
                </a:solidFill>
                <a:latin typeface="Noto Sans CJK KR"/>
              </a:rPr>
              <a:t>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67128" y="5193792"/>
            <a:ext cx="2743200" cy="411480"/>
          </a:xfrm>
          <a:prstGeom prst="rect">
            <a:avLst/>
          </a:prstGeom>
          <a:solidFill>
            <a:srgbClr val="EFF3F8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40280" y="5266944"/>
            <a:ext cx="2596896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00" b="0">
                <a:solidFill>
                  <a:srgbClr val="1C2C43"/>
                </a:solidFill>
                <a:latin typeface="Noto Sans CJK KR"/>
              </a:rPr>
              <a:t>XOR parity 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10328" y="5193792"/>
            <a:ext cx="4114800" cy="411480"/>
          </a:xfrm>
          <a:prstGeom prst="rect">
            <a:avLst/>
          </a:prstGeom>
          <a:solidFill>
            <a:srgbClr val="EFF3F8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983480" y="5266944"/>
            <a:ext cx="3968496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00" b="0">
                <a:solidFill>
                  <a:srgbClr val="1C2C43"/>
                </a:solidFill>
                <a:latin typeface="Noto Sans CJK KR"/>
              </a:rPr>
              <a:t>row 2 ⊕ row 4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464040" y="2651760"/>
            <a:ext cx="1920240" cy="2331720"/>
          </a:xfrm>
          <a:prstGeom prst="roundRect">
            <a:avLst/>
          </a:prstGeom>
          <a:solidFill>
            <a:srgbClr val="E3F2EF"/>
          </a:solidFill>
          <a:ln>
            <a:solidFill>
              <a:srgbClr val="C4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619488" y="2852928"/>
            <a:ext cx="1609344" cy="43891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1CAEA2"/>
                </a:solidFill>
                <a:latin typeface="Noto Sans CJK KR"/>
              </a:rPr>
              <a:t>한 묶음에서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28632" y="3410712"/>
            <a:ext cx="1591056" cy="10972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0">
                <a:solidFill>
                  <a:srgbClr val="1C2C43"/>
                </a:solidFill>
                <a:latin typeface="Noto Sans CJK KR"/>
              </a:rPr>
              <a:t>가닥 1개
소실 → XOR로 복원
2개 소실 → 복원 불가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96112" y="5605272"/>
            <a:ext cx="1024128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700" b="1">
                <a:solidFill>
                  <a:srgbClr val="1C2C43"/>
                </a:solidFill>
                <a:latin typeface="Noto Sans CJK KR"/>
              </a:rPr>
              <a:t>N = D + H = 3D/2 strands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743200" cy="2286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1CAEA2"/>
                </a:solidFill>
                <a:latin typeface="Noto Sans CJK KR"/>
              </a:rPr>
              <a:t>04 · INNER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115568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2700" b="1">
                <a:solidFill>
                  <a:srgbClr val="1C2C43"/>
                </a:solidFill>
                <a:latin typeface="Noto Sans CJK KR"/>
              </a:rPr>
              <a:t>index도 RS 보호 범위 안에 둡니다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10972800" cy="40233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300" b="0">
                <a:solidFill>
                  <a:srgbClr val="5B6B80"/>
                </a:solidFill>
                <a:latin typeface="Noto Sans CJK KR"/>
              </a:rPr>
              <a:t>108 nt 본문을 유지하려면 index 2 byte는 17 byte data 행과 함께 RS 메시지에 들어갑니다.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510528"/>
            <a:ext cx="11109960" cy="16459"/>
          </a:xfrm>
          <a:prstGeom prst="rect">
            <a:avLst/>
          </a:prstGeom>
          <a:solidFill>
            <a:srgbClr val="E7EFF8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65392"/>
            <a:ext cx="9144000" cy="16459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Noto Sans CJK KR"/>
              </a:rPr>
              <a:t>분자정보공학 · Week 04 · Headerless 148 nt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37960"/>
            <a:ext cx="640080" cy="1828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Noto Sans CJK KR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" y="2331720"/>
            <a:ext cx="301752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69848" y="2450592"/>
            <a:ext cx="658368" cy="310896"/>
          </a:xfrm>
          <a:prstGeom prst="roundRect">
            <a:avLst/>
          </a:prstGeom>
          <a:solidFill>
            <a:srgbClr val="1CAEA2"/>
          </a:solidFill>
          <a:ln>
            <a:solidFill>
              <a:srgbClr val="1CAE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2482596"/>
            <a:ext cx="585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17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2852928"/>
            <a:ext cx="2788920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1C2C43"/>
                </a:solidFill>
                <a:latin typeface="Noto Sans CJK KR"/>
              </a:rPr>
              <a:t>data row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2331720"/>
            <a:ext cx="141732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61688" y="2450592"/>
            <a:ext cx="658368" cy="310896"/>
          </a:xfrm>
          <a:prstGeom prst="roundRect">
            <a:avLst/>
          </a:prstGeom>
          <a:solidFill>
            <a:srgbClr val="E0685E"/>
          </a:solidFill>
          <a:ln>
            <a:solidFill>
              <a:srgbClr val="E06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8264" y="2482596"/>
            <a:ext cx="585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2 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0832" y="2852928"/>
            <a:ext cx="1188720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1C2C43"/>
                </a:solidFill>
                <a:latin typeface="Noto Sans CJK KR"/>
              </a:rPr>
              <a:t>index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0760" y="2331720"/>
            <a:ext cx="150876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90488" y="2450592"/>
            <a:ext cx="658368" cy="310896"/>
          </a:xfrm>
          <a:prstGeom prst="roundRect">
            <a:avLst/>
          </a:prstGeom>
          <a:solidFill>
            <a:srgbClr val="7D5EC6"/>
          </a:solidFill>
          <a:ln>
            <a:solidFill>
              <a:srgbClr val="7D5E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27064" y="2482596"/>
            <a:ext cx="585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8 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9632" y="2852928"/>
            <a:ext cx="1280160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1C2C43"/>
                </a:solidFill>
                <a:latin typeface="Noto Sans CJK KR"/>
              </a:rPr>
              <a:t>RS parity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023360" y="2816352"/>
            <a:ext cx="182880" cy="0"/>
          </a:xfrm>
          <a:prstGeom prst="line">
            <a:avLst/>
          </a:prstGeom>
          <a:ln w="27940">
            <a:solidFill>
              <a:srgbClr val="1CAE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715000" y="2816352"/>
            <a:ext cx="320040" cy="0"/>
          </a:xfrm>
          <a:prstGeom prst="line">
            <a:avLst/>
          </a:prstGeom>
          <a:ln w="27940">
            <a:solidFill>
              <a:srgbClr val="1CAE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973568" y="2395728"/>
            <a:ext cx="3154680" cy="329184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500" b="1">
                <a:solidFill>
                  <a:srgbClr val="1C2C43"/>
                </a:solidFill>
                <a:latin typeface="Noto Sans CJK KR"/>
              </a:rPr>
              <a:t>19 B message → 27 B codeword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83296" y="2852928"/>
            <a:ext cx="2880360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300" b="0">
                <a:solidFill>
                  <a:srgbClr val="5B6B80"/>
                </a:solidFill>
                <a:latin typeface="Noto Sans CJK KR"/>
              </a:rPr>
              <a:t>RS(27,19) · GF(256)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4160520"/>
            <a:ext cx="31546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4334256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1CAEA2"/>
                </a:solidFill>
                <a:latin typeface="Noto Sans CJK KR"/>
              </a:rPr>
              <a:t>심볼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" y="4681728"/>
            <a:ext cx="2852928" cy="39319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0">
                <a:solidFill>
                  <a:srgbClr val="1C2C43"/>
                </a:solidFill>
                <a:latin typeface="Noto Sans CJK KR"/>
              </a:rPr>
              <a:t>1 byte = 1 GF(256) symbol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07992" y="4160520"/>
            <a:ext cx="31546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45152" y="4334256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417CD5"/>
                </a:solidFill>
                <a:latin typeface="Noto Sans CJK KR"/>
              </a:rPr>
              <a:t>생성 다항식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4681728"/>
            <a:ext cx="2852928" cy="39319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0">
                <a:solidFill>
                  <a:srgbClr val="1C2C43"/>
                </a:solidFill>
                <a:latin typeface="Noto Sans CJK KR"/>
              </a:rPr>
              <a:t>primitive polynomial 0x11D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93024" y="4160520"/>
            <a:ext cx="31546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30184" y="4334256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7D5EC6"/>
                </a:solidFill>
                <a:latin typeface="Noto Sans CJK KR"/>
              </a:rPr>
              <a:t>정정 능력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48472" y="4681728"/>
            <a:ext cx="2852928" cy="39319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0">
                <a:solidFill>
                  <a:srgbClr val="1C2C43"/>
                </a:solidFill>
                <a:latin typeface="Noto Sans CJK KR"/>
              </a:rPr>
              <a:t>최대 4 byte symbol errors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660136"/>
            <a:ext cx="10241280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1C2C43"/>
                </a:solidFill>
                <a:latin typeface="Noto Sans CJK KR"/>
              </a:rPr>
              <a:t>RS 출력 27 byte × 4 nt/byte = 108 nt payload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743200" cy="2286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1CAEA2"/>
                </a:solidFill>
                <a:latin typeface="Noto Sans CJK KR"/>
              </a:rPr>
              <a:t>05 · DECODING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115568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2700" b="1">
                <a:solidFill>
                  <a:srgbClr val="1C2C43"/>
                </a:solidFill>
                <a:latin typeface="Noto Sans CJK KR"/>
              </a:rPr>
              <a:t>디코더: sequence에서 파일로 역순 처리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10972800" cy="40233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300" b="0">
                <a:solidFill>
                  <a:srgbClr val="5B6B80"/>
                </a:solidFill>
                <a:latin typeface="Noto Sans CJK KR"/>
              </a:rPr>
              <a:t>FASTA에는 파일 metadata 헤더가 없으므로, 인코더가 출력한 L·D·확장자를 설정에 옮깁니다.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510528"/>
            <a:ext cx="11109960" cy="16459"/>
          </a:xfrm>
          <a:prstGeom prst="rect">
            <a:avLst/>
          </a:prstGeom>
          <a:solidFill>
            <a:srgbClr val="E7EFF8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65392"/>
            <a:ext cx="9144000" cy="16459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Noto Sans CJK KR"/>
              </a:rPr>
              <a:t>분자정보공학 · Week 04 · Headerless 148 nt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37960"/>
            <a:ext cx="640080" cy="1828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Noto Sans CJK KR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3776" y="2633472"/>
            <a:ext cx="1408176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2648" y="2770632"/>
            <a:ext cx="1170432" cy="310896"/>
          </a:xfrm>
          <a:prstGeom prst="roundRect">
            <a:avLst/>
          </a:prstGeom>
          <a:solidFill>
            <a:srgbClr val="1CAEA2"/>
          </a:solidFill>
          <a:ln>
            <a:solidFill>
              <a:srgbClr val="1CAE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2802636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READS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3264408"/>
            <a:ext cx="1170432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100" b="1">
                <a:solidFill>
                  <a:srgbClr val="1C2C43"/>
                </a:solidFill>
                <a:latin typeface="Noto Sans CJK KR"/>
              </a:rPr>
              <a:t>FASTA / FASTQ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11095" y="3255264"/>
            <a:ext cx="210313" cy="0"/>
          </a:xfrm>
          <a:prstGeom prst="line">
            <a:avLst/>
          </a:prstGeom>
          <a:ln w="15240">
            <a:solidFill>
              <a:srgbClr val="1CAE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157984" y="2633472"/>
            <a:ext cx="1408176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276856" y="2770632"/>
            <a:ext cx="1170432" cy="310896"/>
          </a:xfrm>
          <a:prstGeom prst="roundRect">
            <a:avLst/>
          </a:prstGeom>
          <a:solidFill>
            <a:srgbClr val="417CD5"/>
          </a:solidFill>
          <a:ln>
            <a:solidFill>
              <a:srgbClr val="417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13432" y="2802636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ORIENTATION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76856" y="3264408"/>
            <a:ext cx="1170432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100" b="1">
                <a:solidFill>
                  <a:srgbClr val="1C2C43"/>
                </a:solidFill>
                <a:latin typeface="Noto Sans CJK KR"/>
              </a:rPr>
              <a:t>방향 + primer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575304" y="3255264"/>
            <a:ext cx="210312" cy="0"/>
          </a:xfrm>
          <a:prstGeom prst="line">
            <a:avLst/>
          </a:prstGeom>
          <a:ln w="15240">
            <a:solidFill>
              <a:srgbClr val="1CAE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822191" y="2633472"/>
            <a:ext cx="1408176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941063" y="2770632"/>
            <a:ext cx="1170432" cy="310896"/>
          </a:xfrm>
          <a:prstGeom prst="roundRect">
            <a:avLst/>
          </a:prstGeom>
          <a:solidFill>
            <a:srgbClr val="E0685E"/>
          </a:solidFill>
          <a:ln>
            <a:solidFill>
              <a:srgbClr val="E06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77639" y="2802636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ISCAN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41063" y="3264408"/>
            <a:ext cx="1170432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100" b="1">
                <a:solidFill>
                  <a:srgbClr val="1C2C43"/>
                </a:solidFill>
                <a:latin typeface="Noto Sans CJK KR"/>
              </a:rPr>
              <a:t>index별 그룹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239512" y="3255264"/>
            <a:ext cx="210312" cy="0"/>
          </a:xfrm>
          <a:prstGeom prst="line">
            <a:avLst/>
          </a:prstGeom>
          <a:ln w="15240">
            <a:solidFill>
              <a:srgbClr val="1CAE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486400" y="2633472"/>
            <a:ext cx="1408176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605272" y="2770632"/>
            <a:ext cx="1170432" cy="310896"/>
          </a:xfrm>
          <a:prstGeom prst="roundRect">
            <a:avLst/>
          </a:prstGeom>
          <a:solidFill>
            <a:srgbClr val="7D5EC6"/>
          </a:solidFill>
          <a:ln>
            <a:solidFill>
              <a:srgbClr val="7D5E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41848" y="2802636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CONSENSUS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05272" y="3264408"/>
            <a:ext cx="1170432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100" b="1">
                <a:solidFill>
                  <a:srgbClr val="1C2C43"/>
                </a:solidFill>
                <a:latin typeface="Noto Sans CJK KR"/>
              </a:rPr>
              <a:t>Global RS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903720" y="3255264"/>
            <a:ext cx="210312" cy="0"/>
          </a:xfrm>
          <a:prstGeom prst="line">
            <a:avLst/>
          </a:prstGeom>
          <a:ln w="15240">
            <a:solidFill>
              <a:srgbClr val="1CAE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150608" y="2633472"/>
            <a:ext cx="1408176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269480" y="2770632"/>
            <a:ext cx="1170432" cy="310896"/>
          </a:xfrm>
          <a:prstGeom prst="roundRect">
            <a:avLst/>
          </a:prstGeom>
          <a:solidFill>
            <a:srgbClr val="3A9770"/>
          </a:solidFill>
          <a:ln>
            <a:solidFill>
              <a:srgbClr val="3A97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06056" y="2802636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LOCAL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69480" y="3264408"/>
            <a:ext cx="1170432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100" b="1">
                <a:solidFill>
                  <a:srgbClr val="1C2C43"/>
                </a:solidFill>
                <a:latin typeface="Noto Sans CJK KR"/>
              </a:rPr>
              <a:t>read별 Local RS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567928" y="3255264"/>
            <a:ext cx="210312" cy="0"/>
          </a:xfrm>
          <a:prstGeom prst="line">
            <a:avLst/>
          </a:prstGeom>
          <a:ln w="15240">
            <a:solidFill>
              <a:srgbClr val="1CAE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8814816" y="2633472"/>
            <a:ext cx="1408176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933688" y="2770632"/>
            <a:ext cx="1170432" cy="310896"/>
          </a:xfrm>
          <a:prstGeom prst="roundRect">
            <a:avLst/>
          </a:prstGeom>
          <a:solidFill>
            <a:srgbClr val="1CAEA2"/>
          </a:solidFill>
          <a:ln>
            <a:solidFill>
              <a:srgbClr val="1CAE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70264" y="2802636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XOR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33688" y="3264408"/>
            <a:ext cx="1170432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100" b="1">
                <a:solidFill>
                  <a:srgbClr val="1C2C43"/>
                </a:solidFill>
                <a:latin typeface="Noto Sans CJK KR"/>
              </a:rPr>
              <a:t>strand 복원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0232136" y="3255264"/>
            <a:ext cx="210312" cy="0"/>
          </a:xfrm>
          <a:prstGeom prst="line">
            <a:avLst/>
          </a:prstGeom>
          <a:ln w="15240">
            <a:solidFill>
              <a:srgbClr val="1CAE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10479024" y="2633472"/>
            <a:ext cx="1408176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0597896" y="2770632"/>
            <a:ext cx="1170432" cy="310896"/>
          </a:xfrm>
          <a:prstGeom prst="roundRect">
            <a:avLst/>
          </a:prstGeom>
          <a:solidFill>
            <a:srgbClr val="172B49"/>
          </a:solidFill>
          <a:ln>
            <a:solidFill>
              <a:srgbClr val="17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34472" y="2802636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FILE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97896" y="3264408"/>
            <a:ext cx="1170432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100" b="1">
                <a:solidFill>
                  <a:srgbClr val="1C2C43"/>
                </a:solidFill>
                <a:latin typeface="Noto Sans CJK KR"/>
              </a:rPr>
              <a:t>행 연결 → L bytes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407408"/>
            <a:ext cx="10744200" cy="850392"/>
          </a:xfrm>
          <a:prstGeom prst="roundRect">
            <a:avLst/>
          </a:prstGeom>
          <a:solidFill>
            <a:srgbClr val="E7EFF8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41832" y="4636008"/>
            <a:ext cx="10287000" cy="38404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1C2C43"/>
                </a:solidFill>
                <a:latin typeface="Noto Sans CJK KR"/>
              </a:rPr>
              <a:t>각 XOR triple (j, j+H, D+j)에서 하나만 누락되면 남은 두 행의 XOR로 채움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7824" y="5577840"/>
            <a:ext cx="10241280" cy="38404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0">
                <a:solidFill>
                  <a:srgbClr val="5B6B80"/>
                </a:solidFill>
                <a:latin typeface="Noto Sans CJK KR"/>
              </a:rPr>
              <a:t>확인 로그: reversed · no_primer · bad_length · bad_index · Global RS · Local RS · XOR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743200" cy="2286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1CAEA2"/>
                </a:solidFill>
                <a:latin typeface="Noto Sans CJK KR"/>
              </a:rPr>
              <a:t>06 · MATLAB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115568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2700" b="1">
                <a:solidFill>
                  <a:srgbClr val="1C2C43"/>
                </a:solidFill>
                <a:latin typeface="Noto Sans CJK KR"/>
              </a:rPr>
              <a:t>이름과 DNA JPG로 왕복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10972800" cy="40233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300" b="0">
                <a:solidFill>
                  <a:srgbClr val="5B6B80"/>
                </a:solidFill>
                <a:latin typeface="Noto Sans CJK KR"/>
              </a:rPr>
              <a:t>실행 로그의 byte 수·가닥 길이와 복원 결과를 대조합니다.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510528"/>
            <a:ext cx="11109960" cy="16459"/>
          </a:xfrm>
          <a:prstGeom prst="rect">
            <a:avLst/>
          </a:prstGeom>
          <a:solidFill>
            <a:srgbClr val="E7EFF8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65392"/>
            <a:ext cx="9144000" cy="16459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Noto Sans CJK KR"/>
              </a:rPr>
              <a:t>분자정보공학 · Week 04 · Headerless 148 nt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37960"/>
            <a:ext cx="640080" cy="1828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Noto Sans CJK KR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2148840"/>
            <a:ext cx="507492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60120" y="2340864"/>
            <a:ext cx="1536192" cy="310896"/>
          </a:xfrm>
          <a:prstGeom prst="roundRect">
            <a:avLst/>
          </a:prstGeom>
          <a:solidFill>
            <a:srgbClr val="1CAEA2"/>
          </a:solidFill>
          <a:ln>
            <a:solidFill>
              <a:srgbClr val="1CAE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372868"/>
            <a:ext cx="146303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NAME · UTF‑8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5" y="2816352"/>
            <a:ext cx="4572000" cy="39319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2000" b="1">
                <a:solidFill>
                  <a:srgbClr val="1C2C43"/>
                </a:solidFill>
                <a:latin typeface="Noto Sans CJK KR"/>
              </a:rPr>
              <a:t>13 byte · 3 strands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7" y="3364992"/>
            <a:ext cx="4526280" cy="58521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400" b="0">
                <a:solidFill>
                  <a:srgbClr val="5B6B80"/>
                </a:solidFill>
                <a:latin typeface="Noto Sans CJK KR"/>
              </a:rPr>
              <a:t>각 strand 148 nt
복원: 송영준 DNA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2148840"/>
            <a:ext cx="507492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0" y="2340864"/>
            <a:ext cx="1536192" cy="310896"/>
          </a:xfrm>
          <a:prstGeom prst="roundRect">
            <a:avLst/>
          </a:prstGeom>
          <a:solidFill>
            <a:srgbClr val="417CD5"/>
          </a:solidFill>
          <a:ln>
            <a:solidFill>
              <a:srgbClr val="417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7376" y="2372868"/>
            <a:ext cx="146303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DNA JPG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7375" y="2816352"/>
            <a:ext cx="4572000" cy="39319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2000" b="1">
                <a:solidFill>
                  <a:srgbClr val="1C2C43"/>
                </a:solidFill>
                <a:latin typeface="Noto Sans CJK KR"/>
              </a:rPr>
              <a:t>35,298 byte · 3,117 strands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7" y="3364992"/>
            <a:ext cx="4526280" cy="58521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400" b="0">
                <a:solidFill>
                  <a:srgbClr val="5B6B80"/>
                </a:solidFill>
                <a:latin typeface="Noto Sans CJK KR"/>
              </a:rPr>
              <a:t>각 strand 148 nt
원본·복원 JPG byte 일치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4590288"/>
            <a:ext cx="10515600" cy="768096"/>
          </a:xfrm>
          <a:prstGeom prst="roundRect">
            <a:avLst/>
          </a:prstGeom>
          <a:solidFill>
            <a:srgbClr val="E3F2EF"/>
          </a:solidFill>
          <a:ln>
            <a:solidFill>
              <a:srgbClr val="C4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4800600"/>
            <a:ext cx="10104120" cy="33832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3A9770"/>
                </a:solidFill>
                <a:latin typeface="Noto Sans CJK KR"/>
              </a:rPr>
              <a:t>채널 확인: 데이터 strand 1개 누락 + RS 입력의 4개 byte 치환 → XOR + RS 후 원본 일치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5669280"/>
            <a:ext cx="1024128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100" b="0">
                <a:solidFill>
                  <a:srgbClr val="5B6B80"/>
                </a:solidFill>
                <a:latin typeface="Noto Sans CJK KR"/>
              </a:rPr>
              <a:t>MATLAB Online R2026a: L=13 · D=2 · 3 strands · 148 nt · decoded.txt = 송영준 DNA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743200" cy="2286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1CAEA2"/>
                </a:solidFill>
                <a:latin typeface="Noto Sans CJK KR"/>
              </a:rPr>
              <a:t>07 · REPRODUCIBILITY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115568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2700" b="1">
                <a:solidFill>
                  <a:srgbClr val="1C2C43"/>
                </a:solidFill>
                <a:latin typeface="Noto Sans CJK KR"/>
              </a:rPr>
              <a:t>실행 설정과 포맷의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10972800" cy="40233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300" b="0">
                <a:solidFill>
                  <a:srgbClr val="5B6B80"/>
                </a:solidFill>
                <a:latin typeface="Noto Sans CJK KR"/>
              </a:rPr>
              <a:t>헤더 없는 변형은 데이터 경로를 직접 보이기 위한 수업용 포맷입니다.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510528"/>
            <a:ext cx="11109960" cy="16459"/>
          </a:xfrm>
          <a:prstGeom prst="rect">
            <a:avLst/>
          </a:prstGeom>
          <a:solidFill>
            <a:srgbClr val="E7EFF8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65392"/>
            <a:ext cx="9144000" cy="16459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5B6B80"/>
                </a:solidFill>
                <a:latin typeface="Noto Sans CJK KR"/>
              </a:rPr>
              <a:t>분자정보공학 · Week 04 · Headerless 148 nt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37960"/>
            <a:ext cx="640080" cy="1828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Noto Sans CJK KR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139696"/>
            <a:ext cx="5084064" cy="3072384"/>
          </a:xfrm>
          <a:prstGeom prst="roundRect">
            <a:avLst/>
          </a:prstGeom>
          <a:solidFill>
            <a:srgbClr val="FFFFFF"/>
          </a:solidFill>
          <a:ln>
            <a:solidFill>
              <a:srgbClr val="E7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87552" y="2331720"/>
            <a:ext cx="1234440" cy="310896"/>
          </a:xfrm>
          <a:prstGeom prst="roundRect">
            <a:avLst/>
          </a:prstGeom>
          <a:solidFill>
            <a:srgbClr val="172B49"/>
          </a:solidFill>
          <a:ln>
            <a:solidFill>
              <a:srgbClr val="17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363724"/>
            <a:ext cx="116128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MATLAB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4" y="2834640"/>
            <a:ext cx="4553712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300" b="0">
                <a:solidFill>
                  <a:srgbClr val="1C2C43"/>
                </a:solidFill>
                <a:latin typeface="Noto Sans CJK KR"/>
              </a:rPr>
              <a:t>1.  inputMode = 'text' | 'image' | 'file'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4" y="3246120"/>
            <a:ext cx="4553712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300" b="0">
                <a:solidFill>
                  <a:srgbClr val="1C2C43"/>
                </a:solidFill>
                <a:latin typeface="Noto Sans CJK KR"/>
              </a:rPr>
              <a:t>2.  인코더를 위에서 아래로 Run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" y="3657600"/>
            <a:ext cx="4553712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300" b="0">
                <a:solidFill>
                  <a:srgbClr val="1C2C43"/>
                </a:solidFill>
                <a:latin typeface="Noto Sans CJK KR"/>
              </a:rPr>
              <a:t>3.  출력의 L / D / ext를 기록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4" y="4069080"/>
            <a:ext cx="4553712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300" b="0">
                <a:solidFill>
                  <a:srgbClr val="1C2C43"/>
                </a:solidFill>
                <a:latin typeface="Noto Sans CJK KR"/>
              </a:rPr>
              <a:t>4.  dnas_sequences.txt 또는 FASTA를 디코더에 설정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4" y="4480560"/>
            <a:ext cx="4553712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300" b="0">
                <a:solidFill>
                  <a:srgbClr val="1C2C43"/>
                </a:solidFill>
                <a:latin typeface="Noto Sans CJK KR"/>
              </a:rPr>
              <a:t>5.  L / D / ext를 복사 → decoded 파일 생성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139696"/>
            <a:ext cx="5084064" cy="3072384"/>
          </a:xfrm>
          <a:prstGeom prst="roundRect">
            <a:avLst/>
          </a:prstGeom>
          <a:solidFill>
            <a:srgbClr val="FFF7EC"/>
          </a:solidFill>
          <a:ln>
            <a:solidFill>
              <a:srgbClr val="F2E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0" y="2331720"/>
            <a:ext cx="1508760" cy="310896"/>
          </a:xfrm>
          <a:prstGeom prst="roundRect">
            <a:avLst/>
          </a:prstGeom>
          <a:solidFill>
            <a:srgbClr val="E0685E"/>
          </a:solidFill>
          <a:ln>
            <a:solidFill>
              <a:srgbClr val="E06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28816" y="2363724"/>
            <a:ext cx="1435607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LIMITATIONS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2834640"/>
            <a:ext cx="4553712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00" b="0">
                <a:solidFill>
                  <a:srgbClr val="1C2C43"/>
                </a:solidFill>
                <a:latin typeface="Noto Sans CJK KR"/>
              </a:rPr>
              <a:t>•  L, D, ext, CRC는 DNA 안에 없음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246120"/>
            <a:ext cx="4553712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00" b="0">
                <a:solidFill>
                  <a:srgbClr val="1C2C43"/>
                </a:solidFill>
                <a:latin typeface="Noto Sans CJK KR"/>
              </a:rPr>
              <a:t>•  이 설정값은 실험 기록에 별도로 보관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3657600"/>
            <a:ext cx="4553712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00" b="0">
                <a:solidFill>
                  <a:srgbClr val="1C2C43"/>
                </a:solidFill>
                <a:latin typeface="Noto Sans CJK KR"/>
              </a:rPr>
              <a:t>•  index 오류는 그룹 분류를 방해 가능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4069080"/>
            <a:ext cx="4553712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00" b="0">
                <a:solidFill>
                  <a:srgbClr val="1C2C43"/>
                </a:solidFill>
                <a:latin typeface="Noto Sans CJK KR"/>
              </a:rPr>
              <a:t>•  삽입·결실에는 primer alignment가 없음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4480560"/>
            <a:ext cx="4553712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00" b="0">
                <a:solidFill>
                  <a:srgbClr val="1C2C43"/>
                </a:solidFill>
                <a:latin typeface="Noto Sans CJK KR"/>
              </a:rPr>
              <a:t>•  같은 XOR pair에서 2개 소실은 복원 불가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" y="5632704"/>
            <a:ext cx="10241280" cy="329184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200" b="0">
                <a:solidFill>
                  <a:srgbClr val="5B6B80"/>
                </a:solidFill>
                <a:latin typeface="Noto Sans CJK KR"/>
              </a:rPr>
              <a:t>표준 DNAS-1(헤더·CRC 포함) 설명과 실습은 홈페이지 앞 절에서 계속 제공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